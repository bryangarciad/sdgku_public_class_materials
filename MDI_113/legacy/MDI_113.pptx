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63" r:id="rId4"/>
    <p:sldId id="262" r:id="rId5"/>
    <p:sldId id="258" r:id="rId6"/>
    <p:sldId id="259" r:id="rId7"/>
    <p:sldId id="260" r:id="rId8"/>
    <p:sldId id="261" r:id="rId9"/>
  </p:sldIdLst>
  <p:sldSz cx="12192000" cy="6858000"/>
  <p:notesSz cx="6858000" cy="9144000"/>
  <p:defaultText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62"/>
    <p:restoredTop sz="94694"/>
  </p:normalViewPr>
  <p:slideViewPr>
    <p:cSldViewPr snapToGrid="0">
      <p:cViewPr varScale="1">
        <p:scale>
          <a:sx n="103" d="100"/>
          <a:sy n="103" d="100"/>
        </p:scale>
        <p:origin x="176" y="5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768668-D61B-DC42-B619-911DCA97B5E1}" type="datetimeFigureOut">
              <a:rPr lang="en-MX" smtClean="0"/>
              <a:t>04/12/25</a:t>
            </a:fld>
            <a:endParaRPr lang="en-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5A24F2-2286-2E4C-9CB4-D4D48E0C89E4}" type="slidenum">
              <a:rPr lang="en-MX" smtClean="0"/>
              <a:t>‹#›</a:t>
            </a:fld>
            <a:endParaRPr lang="en-MX"/>
          </a:p>
        </p:txBody>
      </p:sp>
    </p:spTree>
    <p:extLst>
      <p:ext uri="{BB962C8B-B14F-4D97-AF65-F5344CB8AC3E}">
        <p14:creationId xmlns:p14="http://schemas.microsoft.com/office/powerpoint/2010/main" val="86646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145A24F2-2286-2E4C-9CB4-D4D48E0C89E4}" type="slidenum">
              <a:rPr lang="en-MX" smtClean="0"/>
              <a:t>2</a:t>
            </a:fld>
            <a:endParaRPr lang="en-MX"/>
          </a:p>
        </p:txBody>
      </p:sp>
    </p:spTree>
    <p:extLst>
      <p:ext uri="{BB962C8B-B14F-4D97-AF65-F5344CB8AC3E}">
        <p14:creationId xmlns:p14="http://schemas.microsoft.com/office/powerpoint/2010/main" val="1783958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145A24F2-2286-2E4C-9CB4-D4D48E0C89E4}" type="slidenum">
              <a:rPr lang="en-MX" smtClean="0"/>
              <a:t>4</a:t>
            </a:fld>
            <a:endParaRPr lang="en-MX"/>
          </a:p>
        </p:txBody>
      </p:sp>
    </p:spTree>
    <p:extLst>
      <p:ext uri="{BB962C8B-B14F-4D97-AF65-F5344CB8AC3E}">
        <p14:creationId xmlns:p14="http://schemas.microsoft.com/office/powerpoint/2010/main" val="10730539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7EDC7-4138-D91C-BC77-EADD69416A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X"/>
          </a:p>
        </p:txBody>
      </p:sp>
      <p:sp>
        <p:nvSpPr>
          <p:cNvPr id="3" name="Subtitle 2">
            <a:extLst>
              <a:ext uri="{FF2B5EF4-FFF2-40B4-BE49-F238E27FC236}">
                <a16:creationId xmlns:a16="http://schemas.microsoft.com/office/drawing/2014/main" id="{003052C0-3EDB-A70E-3D8E-4AF9090110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X"/>
          </a:p>
        </p:txBody>
      </p:sp>
      <p:sp>
        <p:nvSpPr>
          <p:cNvPr id="4" name="Date Placeholder 3">
            <a:extLst>
              <a:ext uri="{FF2B5EF4-FFF2-40B4-BE49-F238E27FC236}">
                <a16:creationId xmlns:a16="http://schemas.microsoft.com/office/drawing/2014/main" id="{4B49E8A6-1DC5-851F-B594-5E820AE4DAE2}"/>
              </a:ext>
            </a:extLst>
          </p:cNvPr>
          <p:cNvSpPr>
            <a:spLocks noGrp="1"/>
          </p:cNvSpPr>
          <p:nvPr>
            <p:ph type="dt" sz="half" idx="10"/>
          </p:nvPr>
        </p:nvSpPr>
        <p:spPr/>
        <p:txBody>
          <a:bodyPr/>
          <a:lstStyle/>
          <a:p>
            <a:fld id="{D8909F12-ADE4-F042-8AC4-091C33AD83D2}" type="datetimeFigureOut">
              <a:rPr lang="en-MX" smtClean="0"/>
              <a:t>04/12/25</a:t>
            </a:fld>
            <a:endParaRPr lang="en-MX"/>
          </a:p>
        </p:txBody>
      </p:sp>
      <p:sp>
        <p:nvSpPr>
          <p:cNvPr id="5" name="Footer Placeholder 4">
            <a:extLst>
              <a:ext uri="{FF2B5EF4-FFF2-40B4-BE49-F238E27FC236}">
                <a16:creationId xmlns:a16="http://schemas.microsoft.com/office/drawing/2014/main" id="{0D35581B-33AE-B3EB-637A-0D9B03870AE1}"/>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87A8E127-9D92-2BE0-BF56-FAFBC7AE1E1B}"/>
              </a:ext>
            </a:extLst>
          </p:cNvPr>
          <p:cNvSpPr>
            <a:spLocks noGrp="1"/>
          </p:cNvSpPr>
          <p:nvPr>
            <p:ph type="sldNum" sz="quarter" idx="12"/>
          </p:nvPr>
        </p:nvSpPr>
        <p:spPr/>
        <p:txBody>
          <a:bodyPr/>
          <a:lstStyle/>
          <a:p>
            <a:fld id="{BC7C586A-05FB-AF47-A073-DB9928260870}" type="slidenum">
              <a:rPr lang="en-MX" smtClean="0"/>
              <a:t>‹#›</a:t>
            </a:fld>
            <a:endParaRPr lang="en-MX"/>
          </a:p>
        </p:txBody>
      </p:sp>
    </p:spTree>
    <p:extLst>
      <p:ext uri="{BB962C8B-B14F-4D97-AF65-F5344CB8AC3E}">
        <p14:creationId xmlns:p14="http://schemas.microsoft.com/office/powerpoint/2010/main" val="3987610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1D497-EF1B-C51A-A810-DA2D9A24302A}"/>
              </a:ext>
            </a:extLst>
          </p:cNvPr>
          <p:cNvSpPr>
            <a:spLocks noGrp="1"/>
          </p:cNvSpPr>
          <p:nvPr>
            <p:ph type="title"/>
          </p:nvPr>
        </p:nvSpPr>
        <p:spPr/>
        <p:txBody>
          <a:bodyPr/>
          <a:lstStyle/>
          <a:p>
            <a:r>
              <a:rPr lang="en-US"/>
              <a:t>Click to edit Master title style</a:t>
            </a:r>
            <a:endParaRPr lang="en-MX"/>
          </a:p>
        </p:txBody>
      </p:sp>
      <p:sp>
        <p:nvSpPr>
          <p:cNvPr id="3" name="Content Placeholder 2">
            <a:extLst>
              <a:ext uri="{FF2B5EF4-FFF2-40B4-BE49-F238E27FC236}">
                <a16:creationId xmlns:a16="http://schemas.microsoft.com/office/drawing/2014/main" id="{F7FFC94C-599B-BD53-AF2B-7154C0ED29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67D8A4FB-7D6E-2ED2-8AE9-A40D82EACBF4}"/>
              </a:ext>
            </a:extLst>
          </p:cNvPr>
          <p:cNvSpPr>
            <a:spLocks noGrp="1"/>
          </p:cNvSpPr>
          <p:nvPr>
            <p:ph type="dt" sz="half" idx="10"/>
          </p:nvPr>
        </p:nvSpPr>
        <p:spPr/>
        <p:txBody>
          <a:bodyPr/>
          <a:lstStyle/>
          <a:p>
            <a:fld id="{D8909F12-ADE4-F042-8AC4-091C33AD83D2}" type="datetimeFigureOut">
              <a:rPr lang="en-MX" smtClean="0"/>
              <a:t>04/12/25</a:t>
            </a:fld>
            <a:endParaRPr lang="en-MX"/>
          </a:p>
        </p:txBody>
      </p:sp>
      <p:sp>
        <p:nvSpPr>
          <p:cNvPr id="5" name="Footer Placeholder 4">
            <a:extLst>
              <a:ext uri="{FF2B5EF4-FFF2-40B4-BE49-F238E27FC236}">
                <a16:creationId xmlns:a16="http://schemas.microsoft.com/office/drawing/2014/main" id="{8F7BA5B3-91A0-57A9-FC3B-750402AEE74B}"/>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282EC521-BB89-E52C-E83B-FD0AD3E93451}"/>
              </a:ext>
            </a:extLst>
          </p:cNvPr>
          <p:cNvSpPr>
            <a:spLocks noGrp="1"/>
          </p:cNvSpPr>
          <p:nvPr>
            <p:ph type="sldNum" sz="quarter" idx="12"/>
          </p:nvPr>
        </p:nvSpPr>
        <p:spPr/>
        <p:txBody>
          <a:bodyPr/>
          <a:lstStyle/>
          <a:p>
            <a:fld id="{BC7C586A-05FB-AF47-A073-DB9928260870}" type="slidenum">
              <a:rPr lang="en-MX" smtClean="0"/>
              <a:t>‹#›</a:t>
            </a:fld>
            <a:endParaRPr lang="en-MX"/>
          </a:p>
        </p:txBody>
      </p:sp>
    </p:spTree>
    <p:extLst>
      <p:ext uri="{BB962C8B-B14F-4D97-AF65-F5344CB8AC3E}">
        <p14:creationId xmlns:p14="http://schemas.microsoft.com/office/powerpoint/2010/main" val="1556994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BEDBC-D0BE-41FA-198E-BC71F889B1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X"/>
          </a:p>
        </p:txBody>
      </p:sp>
      <p:sp>
        <p:nvSpPr>
          <p:cNvPr id="3" name="Text Placeholder 2">
            <a:extLst>
              <a:ext uri="{FF2B5EF4-FFF2-40B4-BE49-F238E27FC236}">
                <a16:creationId xmlns:a16="http://schemas.microsoft.com/office/drawing/2014/main" id="{FBA7AF1C-84C5-A250-A8B7-ECEBA070445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FF9CBC-3B60-A3CF-1DE2-A9EEEFC7F68F}"/>
              </a:ext>
            </a:extLst>
          </p:cNvPr>
          <p:cNvSpPr>
            <a:spLocks noGrp="1"/>
          </p:cNvSpPr>
          <p:nvPr>
            <p:ph type="dt" sz="half" idx="10"/>
          </p:nvPr>
        </p:nvSpPr>
        <p:spPr/>
        <p:txBody>
          <a:bodyPr/>
          <a:lstStyle/>
          <a:p>
            <a:fld id="{D8909F12-ADE4-F042-8AC4-091C33AD83D2}" type="datetimeFigureOut">
              <a:rPr lang="en-MX" smtClean="0"/>
              <a:t>04/12/25</a:t>
            </a:fld>
            <a:endParaRPr lang="en-MX"/>
          </a:p>
        </p:txBody>
      </p:sp>
      <p:sp>
        <p:nvSpPr>
          <p:cNvPr id="5" name="Footer Placeholder 4">
            <a:extLst>
              <a:ext uri="{FF2B5EF4-FFF2-40B4-BE49-F238E27FC236}">
                <a16:creationId xmlns:a16="http://schemas.microsoft.com/office/drawing/2014/main" id="{0AAD842F-1116-7840-19E3-FDF95389BED7}"/>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875E3A9C-95A8-EEF4-0177-917B020ECF0A}"/>
              </a:ext>
            </a:extLst>
          </p:cNvPr>
          <p:cNvSpPr>
            <a:spLocks noGrp="1"/>
          </p:cNvSpPr>
          <p:nvPr>
            <p:ph type="sldNum" sz="quarter" idx="12"/>
          </p:nvPr>
        </p:nvSpPr>
        <p:spPr/>
        <p:txBody>
          <a:bodyPr/>
          <a:lstStyle/>
          <a:p>
            <a:fld id="{BC7C586A-05FB-AF47-A073-DB9928260870}" type="slidenum">
              <a:rPr lang="en-MX" smtClean="0"/>
              <a:t>‹#›</a:t>
            </a:fld>
            <a:endParaRPr lang="en-MX"/>
          </a:p>
        </p:txBody>
      </p:sp>
    </p:spTree>
    <p:extLst>
      <p:ext uri="{BB962C8B-B14F-4D97-AF65-F5344CB8AC3E}">
        <p14:creationId xmlns:p14="http://schemas.microsoft.com/office/powerpoint/2010/main" val="2707679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3FF08-6CF3-03A1-40CD-B05BA3EBA660}"/>
              </a:ext>
            </a:extLst>
          </p:cNvPr>
          <p:cNvSpPr>
            <a:spLocks noGrp="1"/>
          </p:cNvSpPr>
          <p:nvPr>
            <p:ph type="title"/>
          </p:nvPr>
        </p:nvSpPr>
        <p:spPr/>
        <p:txBody>
          <a:bodyPr/>
          <a:lstStyle/>
          <a:p>
            <a:r>
              <a:rPr lang="en-US"/>
              <a:t>Click to edit Master title style</a:t>
            </a:r>
            <a:endParaRPr lang="en-MX"/>
          </a:p>
        </p:txBody>
      </p:sp>
      <p:sp>
        <p:nvSpPr>
          <p:cNvPr id="3" name="Content Placeholder 2">
            <a:extLst>
              <a:ext uri="{FF2B5EF4-FFF2-40B4-BE49-F238E27FC236}">
                <a16:creationId xmlns:a16="http://schemas.microsoft.com/office/drawing/2014/main" id="{7DF8FC38-E397-CAC2-FF7E-C23DE8DA42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Content Placeholder 3">
            <a:extLst>
              <a:ext uri="{FF2B5EF4-FFF2-40B4-BE49-F238E27FC236}">
                <a16:creationId xmlns:a16="http://schemas.microsoft.com/office/drawing/2014/main" id="{5E8D5BDE-0A53-AC34-819F-67D64D92B4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5" name="Date Placeholder 4">
            <a:extLst>
              <a:ext uri="{FF2B5EF4-FFF2-40B4-BE49-F238E27FC236}">
                <a16:creationId xmlns:a16="http://schemas.microsoft.com/office/drawing/2014/main" id="{20B3646E-8DE4-E276-D541-3F3E095749AA}"/>
              </a:ext>
            </a:extLst>
          </p:cNvPr>
          <p:cNvSpPr>
            <a:spLocks noGrp="1"/>
          </p:cNvSpPr>
          <p:nvPr>
            <p:ph type="dt" sz="half" idx="10"/>
          </p:nvPr>
        </p:nvSpPr>
        <p:spPr/>
        <p:txBody>
          <a:bodyPr/>
          <a:lstStyle/>
          <a:p>
            <a:fld id="{D8909F12-ADE4-F042-8AC4-091C33AD83D2}" type="datetimeFigureOut">
              <a:rPr lang="en-MX" smtClean="0"/>
              <a:t>04/12/25</a:t>
            </a:fld>
            <a:endParaRPr lang="en-MX"/>
          </a:p>
        </p:txBody>
      </p:sp>
      <p:sp>
        <p:nvSpPr>
          <p:cNvPr id="6" name="Footer Placeholder 5">
            <a:extLst>
              <a:ext uri="{FF2B5EF4-FFF2-40B4-BE49-F238E27FC236}">
                <a16:creationId xmlns:a16="http://schemas.microsoft.com/office/drawing/2014/main" id="{7CCF8A77-5DB2-CEA2-370D-F95289ACFE1D}"/>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6075DDA6-B490-B616-1543-14763773DA40}"/>
              </a:ext>
            </a:extLst>
          </p:cNvPr>
          <p:cNvSpPr>
            <a:spLocks noGrp="1"/>
          </p:cNvSpPr>
          <p:nvPr>
            <p:ph type="sldNum" sz="quarter" idx="12"/>
          </p:nvPr>
        </p:nvSpPr>
        <p:spPr/>
        <p:txBody>
          <a:bodyPr/>
          <a:lstStyle/>
          <a:p>
            <a:fld id="{BC7C586A-05FB-AF47-A073-DB9928260870}" type="slidenum">
              <a:rPr lang="en-MX" smtClean="0"/>
              <a:t>‹#›</a:t>
            </a:fld>
            <a:endParaRPr lang="en-MX"/>
          </a:p>
        </p:txBody>
      </p:sp>
    </p:spTree>
    <p:extLst>
      <p:ext uri="{BB962C8B-B14F-4D97-AF65-F5344CB8AC3E}">
        <p14:creationId xmlns:p14="http://schemas.microsoft.com/office/powerpoint/2010/main" val="3403767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56885-4F5B-D0DE-C15E-0E54E650F28D}"/>
              </a:ext>
            </a:extLst>
          </p:cNvPr>
          <p:cNvSpPr>
            <a:spLocks noGrp="1"/>
          </p:cNvSpPr>
          <p:nvPr>
            <p:ph type="title"/>
          </p:nvPr>
        </p:nvSpPr>
        <p:spPr>
          <a:xfrm>
            <a:off x="839788" y="365125"/>
            <a:ext cx="10515600" cy="1325563"/>
          </a:xfrm>
        </p:spPr>
        <p:txBody>
          <a:bodyPr/>
          <a:lstStyle/>
          <a:p>
            <a:r>
              <a:rPr lang="en-US"/>
              <a:t>Click to edit Master title style</a:t>
            </a:r>
            <a:endParaRPr lang="en-MX"/>
          </a:p>
        </p:txBody>
      </p:sp>
      <p:sp>
        <p:nvSpPr>
          <p:cNvPr id="3" name="Text Placeholder 2">
            <a:extLst>
              <a:ext uri="{FF2B5EF4-FFF2-40B4-BE49-F238E27FC236}">
                <a16:creationId xmlns:a16="http://schemas.microsoft.com/office/drawing/2014/main" id="{10067EF5-DFAB-6045-EA19-16AAA18B07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7E3424-CD52-3CB9-EDAD-D3B1A1443D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5" name="Text Placeholder 4">
            <a:extLst>
              <a:ext uri="{FF2B5EF4-FFF2-40B4-BE49-F238E27FC236}">
                <a16:creationId xmlns:a16="http://schemas.microsoft.com/office/drawing/2014/main" id="{9B87DFD3-D2D6-7B9A-9200-20A41483DF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D42FFD-86F7-7663-F459-8F78BA77C2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7" name="Date Placeholder 6">
            <a:extLst>
              <a:ext uri="{FF2B5EF4-FFF2-40B4-BE49-F238E27FC236}">
                <a16:creationId xmlns:a16="http://schemas.microsoft.com/office/drawing/2014/main" id="{763CDB60-97F2-1297-9ECA-E4949993B8FF}"/>
              </a:ext>
            </a:extLst>
          </p:cNvPr>
          <p:cNvSpPr>
            <a:spLocks noGrp="1"/>
          </p:cNvSpPr>
          <p:nvPr>
            <p:ph type="dt" sz="half" idx="10"/>
          </p:nvPr>
        </p:nvSpPr>
        <p:spPr/>
        <p:txBody>
          <a:bodyPr/>
          <a:lstStyle/>
          <a:p>
            <a:fld id="{D8909F12-ADE4-F042-8AC4-091C33AD83D2}" type="datetimeFigureOut">
              <a:rPr lang="en-MX" smtClean="0"/>
              <a:t>04/12/25</a:t>
            </a:fld>
            <a:endParaRPr lang="en-MX"/>
          </a:p>
        </p:txBody>
      </p:sp>
      <p:sp>
        <p:nvSpPr>
          <p:cNvPr id="8" name="Footer Placeholder 7">
            <a:extLst>
              <a:ext uri="{FF2B5EF4-FFF2-40B4-BE49-F238E27FC236}">
                <a16:creationId xmlns:a16="http://schemas.microsoft.com/office/drawing/2014/main" id="{BAC74983-6F4D-789C-E24A-9140960D5F77}"/>
              </a:ext>
            </a:extLst>
          </p:cNvPr>
          <p:cNvSpPr>
            <a:spLocks noGrp="1"/>
          </p:cNvSpPr>
          <p:nvPr>
            <p:ph type="ftr" sz="quarter" idx="11"/>
          </p:nvPr>
        </p:nvSpPr>
        <p:spPr/>
        <p:txBody>
          <a:bodyPr/>
          <a:lstStyle/>
          <a:p>
            <a:endParaRPr lang="en-MX"/>
          </a:p>
        </p:txBody>
      </p:sp>
      <p:sp>
        <p:nvSpPr>
          <p:cNvPr id="9" name="Slide Number Placeholder 8">
            <a:extLst>
              <a:ext uri="{FF2B5EF4-FFF2-40B4-BE49-F238E27FC236}">
                <a16:creationId xmlns:a16="http://schemas.microsoft.com/office/drawing/2014/main" id="{36CE9849-7077-CE08-82CE-FDB866F19464}"/>
              </a:ext>
            </a:extLst>
          </p:cNvPr>
          <p:cNvSpPr>
            <a:spLocks noGrp="1"/>
          </p:cNvSpPr>
          <p:nvPr>
            <p:ph type="sldNum" sz="quarter" idx="12"/>
          </p:nvPr>
        </p:nvSpPr>
        <p:spPr/>
        <p:txBody>
          <a:bodyPr/>
          <a:lstStyle/>
          <a:p>
            <a:fld id="{BC7C586A-05FB-AF47-A073-DB9928260870}" type="slidenum">
              <a:rPr lang="en-MX" smtClean="0"/>
              <a:t>‹#›</a:t>
            </a:fld>
            <a:endParaRPr lang="en-MX"/>
          </a:p>
        </p:txBody>
      </p:sp>
    </p:spTree>
    <p:extLst>
      <p:ext uri="{BB962C8B-B14F-4D97-AF65-F5344CB8AC3E}">
        <p14:creationId xmlns:p14="http://schemas.microsoft.com/office/powerpoint/2010/main" val="3757660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4FB0D-75D4-DCD9-57B0-DE40C94D14A5}"/>
              </a:ext>
            </a:extLst>
          </p:cNvPr>
          <p:cNvSpPr>
            <a:spLocks noGrp="1"/>
          </p:cNvSpPr>
          <p:nvPr>
            <p:ph type="title"/>
          </p:nvPr>
        </p:nvSpPr>
        <p:spPr/>
        <p:txBody>
          <a:bodyPr/>
          <a:lstStyle/>
          <a:p>
            <a:r>
              <a:rPr lang="en-US"/>
              <a:t>Click to edit Master title style</a:t>
            </a:r>
            <a:endParaRPr lang="en-MX"/>
          </a:p>
        </p:txBody>
      </p:sp>
      <p:sp>
        <p:nvSpPr>
          <p:cNvPr id="3" name="Date Placeholder 2">
            <a:extLst>
              <a:ext uri="{FF2B5EF4-FFF2-40B4-BE49-F238E27FC236}">
                <a16:creationId xmlns:a16="http://schemas.microsoft.com/office/drawing/2014/main" id="{376E0F33-F268-79DE-31C7-C22D9B7CE543}"/>
              </a:ext>
            </a:extLst>
          </p:cNvPr>
          <p:cNvSpPr>
            <a:spLocks noGrp="1"/>
          </p:cNvSpPr>
          <p:nvPr>
            <p:ph type="dt" sz="half" idx="10"/>
          </p:nvPr>
        </p:nvSpPr>
        <p:spPr/>
        <p:txBody>
          <a:bodyPr/>
          <a:lstStyle/>
          <a:p>
            <a:fld id="{D8909F12-ADE4-F042-8AC4-091C33AD83D2}" type="datetimeFigureOut">
              <a:rPr lang="en-MX" smtClean="0"/>
              <a:t>04/12/25</a:t>
            </a:fld>
            <a:endParaRPr lang="en-MX"/>
          </a:p>
        </p:txBody>
      </p:sp>
      <p:sp>
        <p:nvSpPr>
          <p:cNvPr id="4" name="Footer Placeholder 3">
            <a:extLst>
              <a:ext uri="{FF2B5EF4-FFF2-40B4-BE49-F238E27FC236}">
                <a16:creationId xmlns:a16="http://schemas.microsoft.com/office/drawing/2014/main" id="{8E22C499-E29F-93A2-FB7D-84BD9E312BE4}"/>
              </a:ext>
            </a:extLst>
          </p:cNvPr>
          <p:cNvSpPr>
            <a:spLocks noGrp="1"/>
          </p:cNvSpPr>
          <p:nvPr>
            <p:ph type="ftr" sz="quarter" idx="11"/>
          </p:nvPr>
        </p:nvSpPr>
        <p:spPr/>
        <p:txBody>
          <a:bodyPr/>
          <a:lstStyle/>
          <a:p>
            <a:endParaRPr lang="en-MX"/>
          </a:p>
        </p:txBody>
      </p:sp>
      <p:sp>
        <p:nvSpPr>
          <p:cNvPr id="5" name="Slide Number Placeholder 4">
            <a:extLst>
              <a:ext uri="{FF2B5EF4-FFF2-40B4-BE49-F238E27FC236}">
                <a16:creationId xmlns:a16="http://schemas.microsoft.com/office/drawing/2014/main" id="{93375B69-9E99-1E15-3433-B1E95C60C716}"/>
              </a:ext>
            </a:extLst>
          </p:cNvPr>
          <p:cNvSpPr>
            <a:spLocks noGrp="1"/>
          </p:cNvSpPr>
          <p:nvPr>
            <p:ph type="sldNum" sz="quarter" idx="12"/>
          </p:nvPr>
        </p:nvSpPr>
        <p:spPr/>
        <p:txBody>
          <a:bodyPr/>
          <a:lstStyle/>
          <a:p>
            <a:fld id="{BC7C586A-05FB-AF47-A073-DB9928260870}" type="slidenum">
              <a:rPr lang="en-MX" smtClean="0"/>
              <a:t>‹#›</a:t>
            </a:fld>
            <a:endParaRPr lang="en-MX"/>
          </a:p>
        </p:txBody>
      </p:sp>
    </p:spTree>
    <p:extLst>
      <p:ext uri="{BB962C8B-B14F-4D97-AF65-F5344CB8AC3E}">
        <p14:creationId xmlns:p14="http://schemas.microsoft.com/office/powerpoint/2010/main" val="3724173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085707-9C4F-D5F5-BBEB-59AE39870535}"/>
              </a:ext>
            </a:extLst>
          </p:cNvPr>
          <p:cNvSpPr>
            <a:spLocks noGrp="1"/>
          </p:cNvSpPr>
          <p:nvPr>
            <p:ph type="dt" sz="half" idx="10"/>
          </p:nvPr>
        </p:nvSpPr>
        <p:spPr/>
        <p:txBody>
          <a:bodyPr/>
          <a:lstStyle/>
          <a:p>
            <a:fld id="{D8909F12-ADE4-F042-8AC4-091C33AD83D2}" type="datetimeFigureOut">
              <a:rPr lang="en-MX" smtClean="0"/>
              <a:t>04/12/25</a:t>
            </a:fld>
            <a:endParaRPr lang="en-MX"/>
          </a:p>
        </p:txBody>
      </p:sp>
      <p:sp>
        <p:nvSpPr>
          <p:cNvPr id="3" name="Footer Placeholder 2">
            <a:extLst>
              <a:ext uri="{FF2B5EF4-FFF2-40B4-BE49-F238E27FC236}">
                <a16:creationId xmlns:a16="http://schemas.microsoft.com/office/drawing/2014/main" id="{6DA0571F-6271-8B7E-6A6A-2FA330E6DC13}"/>
              </a:ext>
            </a:extLst>
          </p:cNvPr>
          <p:cNvSpPr>
            <a:spLocks noGrp="1"/>
          </p:cNvSpPr>
          <p:nvPr>
            <p:ph type="ftr" sz="quarter" idx="11"/>
          </p:nvPr>
        </p:nvSpPr>
        <p:spPr/>
        <p:txBody>
          <a:bodyPr/>
          <a:lstStyle/>
          <a:p>
            <a:endParaRPr lang="en-MX"/>
          </a:p>
        </p:txBody>
      </p:sp>
      <p:sp>
        <p:nvSpPr>
          <p:cNvPr id="4" name="Slide Number Placeholder 3">
            <a:extLst>
              <a:ext uri="{FF2B5EF4-FFF2-40B4-BE49-F238E27FC236}">
                <a16:creationId xmlns:a16="http://schemas.microsoft.com/office/drawing/2014/main" id="{C43DAEAB-1ABF-E7A1-77BE-AF28804DFD7A}"/>
              </a:ext>
            </a:extLst>
          </p:cNvPr>
          <p:cNvSpPr>
            <a:spLocks noGrp="1"/>
          </p:cNvSpPr>
          <p:nvPr>
            <p:ph type="sldNum" sz="quarter" idx="12"/>
          </p:nvPr>
        </p:nvSpPr>
        <p:spPr/>
        <p:txBody>
          <a:bodyPr/>
          <a:lstStyle/>
          <a:p>
            <a:fld id="{BC7C586A-05FB-AF47-A073-DB9928260870}" type="slidenum">
              <a:rPr lang="en-MX" smtClean="0"/>
              <a:t>‹#›</a:t>
            </a:fld>
            <a:endParaRPr lang="en-MX"/>
          </a:p>
        </p:txBody>
      </p:sp>
    </p:spTree>
    <p:extLst>
      <p:ext uri="{BB962C8B-B14F-4D97-AF65-F5344CB8AC3E}">
        <p14:creationId xmlns:p14="http://schemas.microsoft.com/office/powerpoint/2010/main" val="3938081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6AF98-5FAF-BAB3-E0A3-CE1C9BB3CC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X"/>
          </a:p>
        </p:txBody>
      </p:sp>
      <p:sp>
        <p:nvSpPr>
          <p:cNvPr id="3" name="Content Placeholder 2">
            <a:extLst>
              <a:ext uri="{FF2B5EF4-FFF2-40B4-BE49-F238E27FC236}">
                <a16:creationId xmlns:a16="http://schemas.microsoft.com/office/drawing/2014/main" id="{36E2D3C3-92FD-0547-480D-91751BF6AA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Text Placeholder 3">
            <a:extLst>
              <a:ext uri="{FF2B5EF4-FFF2-40B4-BE49-F238E27FC236}">
                <a16:creationId xmlns:a16="http://schemas.microsoft.com/office/drawing/2014/main" id="{85231BD1-4CD2-7D29-D0D6-DB219D6D20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9927C2-E186-54C1-0B0C-CF7514FC5180}"/>
              </a:ext>
            </a:extLst>
          </p:cNvPr>
          <p:cNvSpPr>
            <a:spLocks noGrp="1"/>
          </p:cNvSpPr>
          <p:nvPr>
            <p:ph type="dt" sz="half" idx="10"/>
          </p:nvPr>
        </p:nvSpPr>
        <p:spPr/>
        <p:txBody>
          <a:bodyPr/>
          <a:lstStyle/>
          <a:p>
            <a:fld id="{D8909F12-ADE4-F042-8AC4-091C33AD83D2}" type="datetimeFigureOut">
              <a:rPr lang="en-MX" smtClean="0"/>
              <a:t>04/12/25</a:t>
            </a:fld>
            <a:endParaRPr lang="en-MX"/>
          </a:p>
        </p:txBody>
      </p:sp>
      <p:sp>
        <p:nvSpPr>
          <p:cNvPr id="6" name="Footer Placeholder 5">
            <a:extLst>
              <a:ext uri="{FF2B5EF4-FFF2-40B4-BE49-F238E27FC236}">
                <a16:creationId xmlns:a16="http://schemas.microsoft.com/office/drawing/2014/main" id="{FAD23A0E-346E-F3D0-7DFB-7B380644D03D}"/>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3ABFC2EE-AF31-B81A-F1C4-F772F2F0500E}"/>
              </a:ext>
            </a:extLst>
          </p:cNvPr>
          <p:cNvSpPr>
            <a:spLocks noGrp="1"/>
          </p:cNvSpPr>
          <p:nvPr>
            <p:ph type="sldNum" sz="quarter" idx="12"/>
          </p:nvPr>
        </p:nvSpPr>
        <p:spPr/>
        <p:txBody>
          <a:bodyPr/>
          <a:lstStyle/>
          <a:p>
            <a:fld id="{BC7C586A-05FB-AF47-A073-DB9928260870}" type="slidenum">
              <a:rPr lang="en-MX" smtClean="0"/>
              <a:t>‹#›</a:t>
            </a:fld>
            <a:endParaRPr lang="en-MX"/>
          </a:p>
        </p:txBody>
      </p:sp>
    </p:spTree>
    <p:extLst>
      <p:ext uri="{BB962C8B-B14F-4D97-AF65-F5344CB8AC3E}">
        <p14:creationId xmlns:p14="http://schemas.microsoft.com/office/powerpoint/2010/main" val="1881818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72A90-9A6C-E0DF-697C-108C03C63A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X"/>
          </a:p>
        </p:txBody>
      </p:sp>
      <p:sp>
        <p:nvSpPr>
          <p:cNvPr id="3" name="Picture Placeholder 2">
            <a:extLst>
              <a:ext uri="{FF2B5EF4-FFF2-40B4-BE49-F238E27FC236}">
                <a16:creationId xmlns:a16="http://schemas.microsoft.com/office/drawing/2014/main" id="{A1781E9A-8891-7511-86DD-C66ADC731C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X"/>
          </a:p>
        </p:txBody>
      </p:sp>
      <p:sp>
        <p:nvSpPr>
          <p:cNvPr id="4" name="Text Placeholder 3">
            <a:extLst>
              <a:ext uri="{FF2B5EF4-FFF2-40B4-BE49-F238E27FC236}">
                <a16:creationId xmlns:a16="http://schemas.microsoft.com/office/drawing/2014/main" id="{1544F35E-33E6-BA5B-2A9A-CB96017FFD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5E00D2-025B-9EC7-C3B5-6236989C277A}"/>
              </a:ext>
            </a:extLst>
          </p:cNvPr>
          <p:cNvSpPr>
            <a:spLocks noGrp="1"/>
          </p:cNvSpPr>
          <p:nvPr>
            <p:ph type="dt" sz="half" idx="10"/>
          </p:nvPr>
        </p:nvSpPr>
        <p:spPr/>
        <p:txBody>
          <a:bodyPr/>
          <a:lstStyle/>
          <a:p>
            <a:fld id="{D8909F12-ADE4-F042-8AC4-091C33AD83D2}" type="datetimeFigureOut">
              <a:rPr lang="en-MX" smtClean="0"/>
              <a:t>04/12/25</a:t>
            </a:fld>
            <a:endParaRPr lang="en-MX"/>
          </a:p>
        </p:txBody>
      </p:sp>
      <p:sp>
        <p:nvSpPr>
          <p:cNvPr id="6" name="Footer Placeholder 5">
            <a:extLst>
              <a:ext uri="{FF2B5EF4-FFF2-40B4-BE49-F238E27FC236}">
                <a16:creationId xmlns:a16="http://schemas.microsoft.com/office/drawing/2014/main" id="{7D21CA7A-C9A1-2FD4-EF77-C0F09216C6E3}"/>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FCC24B9B-F200-A117-0031-9224BA64CC59}"/>
              </a:ext>
            </a:extLst>
          </p:cNvPr>
          <p:cNvSpPr>
            <a:spLocks noGrp="1"/>
          </p:cNvSpPr>
          <p:nvPr>
            <p:ph type="sldNum" sz="quarter" idx="12"/>
          </p:nvPr>
        </p:nvSpPr>
        <p:spPr/>
        <p:txBody>
          <a:bodyPr/>
          <a:lstStyle/>
          <a:p>
            <a:fld id="{BC7C586A-05FB-AF47-A073-DB9928260870}" type="slidenum">
              <a:rPr lang="en-MX" smtClean="0"/>
              <a:t>‹#›</a:t>
            </a:fld>
            <a:endParaRPr lang="en-MX"/>
          </a:p>
        </p:txBody>
      </p:sp>
    </p:spTree>
    <p:extLst>
      <p:ext uri="{BB962C8B-B14F-4D97-AF65-F5344CB8AC3E}">
        <p14:creationId xmlns:p14="http://schemas.microsoft.com/office/powerpoint/2010/main" val="1811170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BD54C-CCBE-6242-359D-65DB19198C33}"/>
              </a:ext>
            </a:extLst>
          </p:cNvPr>
          <p:cNvSpPr>
            <a:spLocks noGrp="1"/>
          </p:cNvSpPr>
          <p:nvPr>
            <p:ph type="title"/>
          </p:nvPr>
        </p:nvSpPr>
        <p:spPr/>
        <p:txBody>
          <a:bodyPr/>
          <a:lstStyle/>
          <a:p>
            <a:r>
              <a:rPr lang="en-US"/>
              <a:t>Click to edit Master title style</a:t>
            </a:r>
            <a:endParaRPr lang="en-MX"/>
          </a:p>
        </p:txBody>
      </p:sp>
      <p:sp>
        <p:nvSpPr>
          <p:cNvPr id="3" name="Vertical Text Placeholder 2">
            <a:extLst>
              <a:ext uri="{FF2B5EF4-FFF2-40B4-BE49-F238E27FC236}">
                <a16:creationId xmlns:a16="http://schemas.microsoft.com/office/drawing/2014/main" id="{B8D64A34-C511-1198-726C-5C0F19EB67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F21719CA-9544-523A-E852-7A51BB629B54}"/>
              </a:ext>
            </a:extLst>
          </p:cNvPr>
          <p:cNvSpPr>
            <a:spLocks noGrp="1"/>
          </p:cNvSpPr>
          <p:nvPr>
            <p:ph type="dt" sz="half" idx="10"/>
          </p:nvPr>
        </p:nvSpPr>
        <p:spPr/>
        <p:txBody>
          <a:bodyPr/>
          <a:lstStyle/>
          <a:p>
            <a:fld id="{D8909F12-ADE4-F042-8AC4-091C33AD83D2}" type="datetimeFigureOut">
              <a:rPr lang="en-MX" smtClean="0"/>
              <a:t>04/12/25</a:t>
            </a:fld>
            <a:endParaRPr lang="en-MX"/>
          </a:p>
        </p:txBody>
      </p:sp>
      <p:sp>
        <p:nvSpPr>
          <p:cNvPr id="5" name="Footer Placeholder 4">
            <a:extLst>
              <a:ext uri="{FF2B5EF4-FFF2-40B4-BE49-F238E27FC236}">
                <a16:creationId xmlns:a16="http://schemas.microsoft.com/office/drawing/2014/main" id="{448B5D9B-5A9F-8E2E-691D-5C6DC3C9DDD4}"/>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7103FE91-647C-47D1-4212-F806CC822F74}"/>
              </a:ext>
            </a:extLst>
          </p:cNvPr>
          <p:cNvSpPr>
            <a:spLocks noGrp="1"/>
          </p:cNvSpPr>
          <p:nvPr>
            <p:ph type="sldNum" sz="quarter" idx="12"/>
          </p:nvPr>
        </p:nvSpPr>
        <p:spPr/>
        <p:txBody>
          <a:bodyPr/>
          <a:lstStyle/>
          <a:p>
            <a:fld id="{BC7C586A-05FB-AF47-A073-DB9928260870}" type="slidenum">
              <a:rPr lang="en-MX" smtClean="0"/>
              <a:t>‹#›</a:t>
            </a:fld>
            <a:endParaRPr lang="en-MX"/>
          </a:p>
        </p:txBody>
      </p:sp>
    </p:spTree>
    <p:extLst>
      <p:ext uri="{BB962C8B-B14F-4D97-AF65-F5344CB8AC3E}">
        <p14:creationId xmlns:p14="http://schemas.microsoft.com/office/powerpoint/2010/main" val="2212472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CBB253-F8F5-CF01-6186-96EBF205DF9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X"/>
          </a:p>
        </p:txBody>
      </p:sp>
      <p:sp>
        <p:nvSpPr>
          <p:cNvPr id="3" name="Vertical Text Placeholder 2">
            <a:extLst>
              <a:ext uri="{FF2B5EF4-FFF2-40B4-BE49-F238E27FC236}">
                <a16:creationId xmlns:a16="http://schemas.microsoft.com/office/drawing/2014/main" id="{A8B6E623-D7F3-A453-69CB-081DFA9C14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A3CE315D-AAAB-BFB3-2361-D02D9D3F07BD}"/>
              </a:ext>
            </a:extLst>
          </p:cNvPr>
          <p:cNvSpPr>
            <a:spLocks noGrp="1"/>
          </p:cNvSpPr>
          <p:nvPr>
            <p:ph type="dt" sz="half" idx="10"/>
          </p:nvPr>
        </p:nvSpPr>
        <p:spPr/>
        <p:txBody>
          <a:bodyPr/>
          <a:lstStyle/>
          <a:p>
            <a:fld id="{D8909F12-ADE4-F042-8AC4-091C33AD83D2}" type="datetimeFigureOut">
              <a:rPr lang="en-MX" smtClean="0"/>
              <a:t>04/12/25</a:t>
            </a:fld>
            <a:endParaRPr lang="en-MX"/>
          </a:p>
        </p:txBody>
      </p:sp>
      <p:sp>
        <p:nvSpPr>
          <p:cNvPr id="5" name="Footer Placeholder 4">
            <a:extLst>
              <a:ext uri="{FF2B5EF4-FFF2-40B4-BE49-F238E27FC236}">
                <a16:creationId xmlns:a16="http://schemas.microsoft.com/office/drawing/2014/main" id="{77CDF0C5-1C32-CD05-2C30-24D4C0E8A821}"/>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659EB28B-013C-8039-23F6-0BB2C30AA324}"/>
              </a:ext>
            </a:extLst>
          </p:cNvPr>
          <p:cNvSpPr>
            <a:spLocks noGrp="1"/>
          </p:cNvSpPr>
          <p:nvPr>
            <p:ph type="sldNum" sz="quarter" idx="12"/>
          </p:nvPr>
        </p:nvSpPr>
        <p:spPr/>
        <p:txBody>
          <a:bodyPr/>
          <a:lstStyle/>
          <a:p>
            <a:fld id="{BC7C586A-05FB-AF47-A073-DB9928260870}" type="slidenum">
              <a:rPr lang="en-MX" smtClean="0"/>
              <a:t>‹#›</a:t>
            </a:fld>
            <a:endParaRPr lang="en-MX"/>
          </a:p>
        </p:txBody>
      </p:sp>
    </p:spTree>
    <p:extLst>
      <p:ext uri="{BB962C8B-B14F-4D97-AF65-F5344CB8AC3E}">
        <p14:creationId xmlns:p14="http://schemas.microsoft.com/office/powerpoint/2010/main" val="3722670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62D0B0-D47D-450B-74AF-DF0522593B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X"/>
          </a:p>
        </p:txBody>
      </p:sp>
      <p:sp>
        <p:nvSpPr>
          <p:cNvPr id="3" name="Text Placeholder 2">
            <a:extLst>
              <a:ext uri="{FF2B5EF4-FFF2-40B4-BE49-F238E27FC236}">
                <a16:creationId xmlns:a16="http://schemas.microsoft.com/office/drawing/2014/main" id="{379C0B91-8E79-CAB3-E2E4-DA2D72F752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B0565D95-F627-B03A-B904-33306627CA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8909F12-ADE4-F042-8AC4-091C33AD83D2}" type="datetimeFigureOut">
              <a:rPr lang="en-MX" smtClean="0"/>
              <a:t>04/12/25</a:t>
            </a:fld>
            <a:endParaRPr lang="en-MX"/>
          </a:p>
        </p:txBody>
      </p:sp>
      <p:sp>
        <p:nvSpPr>
          <p:cNvPr id="5" name="Footer Placeholder 4">
            <a:extLst>
              <a:ext uri="{FF2B5EF4-FFF2-40B4-BE49-F238E27FC236}">
                <a16:creationId xmlns:a16="http://schemas.microsoft.com/office/drawing/2014/main" id="{EBD6705D-07CC-EB52-3FE7-D6FE3D4BAD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X"/>
          </a:p>
        </p:txBody>
      </p:sp>
      <p:sp>
        <p:nvSpPr>
          <p:cNvPr id="6" name="Slide Number Placeholder 5">
            <a:extLst>
              <a:ext uri="{FF2B5EF4-FFF2-40B4-BE49-F238E27FC236}">
                <a16:creationId xmlns:a16="http://schemas.microsoft.com/office/drawing/2014/main" id="{447ADAFC-B4D8-3A44-8DF9-2604198F7B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7C586A-05FB-AF47-A073-DB9928260870}" type="slidenum">
              <a:rPr lang="en-MX" smtClean="0"/>
              <a:t>‹#›</a:t>
            </a:fld>
            <a:endParaRPr lang="en-MX"/>
          </a:p>
        </p:txBody>
      </p:sp>
    </p:spTree>
    <p:extLst>
      <p:ext uri="{BB962C8B-B14F-4D97-AF65-F5344CB8AC3E}">
        <p14:creationId xmlns:p14="http://schemas.microsoft.com/office/powerpoint/2010/main" val="29052395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F269BDC9-F5DC-4A16-9583-2F8CE41846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4B2520-D017-6374-5E0E-0AE3E3B37B9C}"/>
              </a:ext>
            </a:extLst>
          </p:cNvPr>
          <p:cNvSpPr>
            <a:spLocks noGrp="1"/>
          </p:cNvSpPr>
          <p:nvPr>
            <p:ph type="ctrTitle"/>
          </p:nvPr>
        </p:nvSpPr>
        <p:spPr>
          <a:xfrm>
            <a:off x="1522476" y="5257224"/>
            <a:ext cx="9144000" cy="645539"/>
          </a:xfrm>
        </p:spPr>
        <p:txBody>
          <a:bodyPr anchor="ctr">
            <a:normAutofit fontScale="90000"/>
          </a:bodyPr>
          <a:lstStyle/>
          <a:p>
            <a:r>
              <a:rPr lang="en-US" b="1" dirty="0"/>
              <a:t>MDI1 113: Mobile Applications for Wearables – Intermediate</a:t>
            </a:r>
            <a:br>
              <a:rPr lang="en-US" sz="4400" dirty="0"/>
            </a:br>
            <a:r>
              <a:rPr lang="en-US" sz="4400" dirty="0"/>
              <a:t>Class 3</a:t>
            </a:r>
            <a:endParaRPr lang="en-MX" sz="4400" dirty="0"/>
          </a:p>
        </p:txBody>
      </p:sp>
      <p:sp>
        <p:nvSpPr>
          <p:cNvPr id="1033" name="Freeform: Shape 1032">
            <a:extLst>
              <a:ext uri="{FF2B5EF4-FFF2-40B4-BE49-F238E27FC236}">
                <a16:creationId xmlns:a16="http://schemas.microsoft.com/office/drawing/2014/main" id="{903CE7F4-D1BB-4A5B-8E96-915177640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
            <a:ext cx="9379192" cy="4251280"/>
          </a:xfrm>
          <a:custGeom>
            <a:avLst/>
            <a:gdLst>
              <a:gd name="connsiteX0" fmla="*/ 9379192 w 9379192"/>
              <a:gd name="connsiteY0" fmla="*/ 3752527 h 3752527"/>
              <a:gd name="connsiteX1" fmla="*/ 3293459 w 9379192"/>
              <a:gd name="connsiteY1" fmla="*/ 3752527 h 3752527"/>
              <a:gd name="connsiteX2" fmla="*/ 3297156 w 9379192"/>
              <a:gd name="connsiteY2" fmla="*/ 3752055 h 3752527"/>
              <a:gd name="connsiteX3" fmla="*/ 3642095 w 9379192"/>
              <a:gd name="connsiteY3" fmla="*/ 3690141 h 3752527"/>
              <a:gd name="connsiteX4" fmla="*/ 2307659 w 9379192"/>
              <a:gd name="connsiteY4" fmla="*/ 3500267 h 3752527"/>
              <a:gd name="connsiteX5" fmla="*/ 2383194 w 9379192"/>
              <a:gd name="connsiteY5" fmla="*/ 3475501 h 3752527"/>
              <a:gd name="connsiteX6" fmla="*/ 2237161 w 9379192"/>
              <a:gd name="connsiteY6" fmla="*/ 3376437 h 3752527"/>
              <a:gd name="connsiteX7" fmla="*/ 1637924 w 9379192"/>
              <a:gd name="connsiteY7" fmla="*/ 3219585 h 3752527"/>
              <a:gd name="connsiteX8" fmla="*/ 2383194 w 9379192"/>
              <a:gd name="connsiteY8" fmla="*/ 2955415 h 3752527"/>
              <a:gd name="connsiteX9" fmla="*/ 1542249 w 9379192"/>
              <a:gd name="connsiteY9" fmla="*/ 2596307 h 3752527"/>
              <a:gd name="connsiteX10" fmla="*/ 1114221 w 9379192"/>
              <a:gd name="connsiteY10" fmla="*/ 2509625 h 3752527"/>
              <a:gd name="connsiteX11" fmla="*/ 2524191 w 9379192"/>
              <a:gd name="connsiteY11" fmla="*/ 2059708 h 3752527"/>
              <a:gd name="connsiteX12" fmla="*/ 238027 w 9379192"/>
              <a:gd name="connsiteY12" fmla="*/ 1836815 h 3752527"/>
              <a:gd name="connsiteX13" fmla="*/ 424343 w 9379192"/>
              <a:gd name="connsiteY13" fmla="*/ 1746006 h 3752527"/>
              <a:gd name="connsiteX14" fmla="*/ 1844384 w 9379192"/>
              <a:gd name="connsiteY14" fmla="*/ 1770772 h 3752527"/>
              <a:gd name="connsiteX15" fmla="*/ 2081058 w 9379192"/>
              <a:gd name="connsiteY15" fmla="*/ 1700602 h 3752527"/>
              <a:gd name="connsiteX16" fmla="*/ 1844384 w 9379192"/>
              <a:gd name="connsiteY16" fmla="*/ 1589154 h 3752527"/>
              <a:gd name="connsiteX17" fmla="*/ 922869 w 9379192"/>
              <a:gd name="connsiteY17" fmla="*/ 1506601 h 3752527"/>
              <a:gd name="connsiteX18" fmla="*/ 681160 w 9379192"/>
              <a:gd name="connsiteY18" fmla="*/ 1320855 h 3752527"/>
              <a:gd name="connsiteX19" fmla="*/ 273276 w 9379192"/>
              <a:gd name="connsiteY19" fmla="*/ 1106216 h 3752527"/>
              <a:gd name="connsiteX20" fmla="*/ 555269 w 9379192"/>
              <a:gd name="connsiteY20" fmla="*/ 928727 h 3752527"/>
              <a:gd name="connsiteX21" fmla="*/ 97029 w 9379192"/>
              <a:gd name="connsiteY21" fmla="*/ 664555 h 3752527"/>
              <a:gd name="connsiteX22" fmla="*/ 227955 w 9379192"/>
              <a:gd name="connsiteY22" fmla="*/ 317831 h 3752527"/>
              <a:gd name="connsiteX23" fmla="*/ 998402 w 9379192"/>
              <a:gd name="connsiteY23" fmla="*/ 235277 h 3752527"/>
              <a:gd name="connsiteX24" fmla="*/ 2030701 w 9379192"/>
              <a:gd name="connsiteY24" fmla="*/ 115575 h 3752527"/>
              <a:gd name="connsiteX25" fmla="*/ 3068036 w 9379192"/>
              <a:gd name="connsiteY25" fmla="*/ 12383 h 3752527"/>
              <a:gd name="connsiteX26" fmla="*/ 4105370 w 9379192"/>
              <a:gd name="connsiteY26" fmla="*/ 12383 h 3752527"/>
              <a:gd name="connsiteX27" fmla="*/ 4402472 w 9379192"/>
              <a:gd name="connsiteY27" fmla="*/ 20638 h 3752527"/>
              <a:gd name="connsiteX28" fmla="*/ 4407507 w 9379192"/>
              <a:gd name="connsiteY28" fmla="*/ 20638 h 3752527"/>
              <a:gd name="connsiteX29" fmla="*/ 5696622 w 9379192"/>
              <a:gd name="connsiteY29" fmla="*/ 57788 h 3752527"/>
              <a:gd name="connsiteX30" fmla="*/ 6175004 w 9379192"/>
              <a:gd name="connsiteY30" fmla="*/ 61915 h 3752527"/>
              <a:gd name="connsiteX31" fmla="*/ 7212339 w 9379192"/>
              <a:gd name="connsiteY31" fmla="*/ 66042 h 3752527"/>
              <a:gd name="connsiteX32" fmla="*/ 8244638 w 9379192"/>
              <a:gd name="connsiteY32" fmla="*/ 49532 h 3752527"/>
              <a:gd name="connsiteX33" fmla="*/ 9292044 w 9379192"/>
              <a:gd name="connsiteY33" fmla="*/ 0 h 3752527"/>
              <a:gd name="connsiteX34" fmla="*/ 9379192 w 9379192"/>
              <a:gd name="connsiteY34" fmla="*/ 2762 h 3752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9379192" h="3752527">
                <a:moveTo>
                  <a:pt x="9379192" y="3752527"/>
                </a:moveTo>
                <a:lnTo>
                  <a:pt x="3293459" y="3752527"/>
                </a:lnTo>
                <a:lnTo>
                  <a:pt x="3297156" y="3752055"/>
                </a:lnTo>
                <a:cubicBezTo>
                  <a:pt x="3412975" y="3736577"/>
                  <a:pt x="3551454" y="3714906"/>
                  <a:pt x="3642095" y="3690141"/>
                </a:cubicBezTo>
                <a:cubicBezTo>
                  <a:pt x="3380244" y="3686012"/>
                  <a:pt x="2347945" y="3529162"/>
                  <a:pt x="2307659" y="3500267"/>
                </a:cubicBezTo>
                <a:cubicBezTo>
                  <a:pt x="2327803" y="3492012"/>
                  <a:pt x="2358017" y="3483757"/>
                  <a:pt x="2383194" y="3475501"/>
                </a:cubicBezTo>
                <a:cubicBezTo>
                  <a:pt x="2327803" y="3450736"/>
                  <a:pt x="2282482" y="3421842"/>
                  <a:pt x="2237161" y="3376437"/>
                </a:cubicBezTo>
                <a:cubicBezTo>
                  <a:pt x="2091129" y="3223714"/>
                  <a:pt x="1844384" y="3277374"/>
                  <a:pt x="1637924" y="3219585"/>
                </a:cubicBezTo>
                <a:cubicBezTo>
                  <a:pt x="1768850" y="2897627"/>
                  <a:pt x="2116307" y="3017329"/>
                  <a:pt x="2383194" y="2955415"/>
                </a:cubicBezTo>
                <a:cubicBezTo>
                  <a:pt x="1683245" y="2765541"/>
                  <a:pt x="1819207" y="2666477"/>
                  <a:pt x="1542249" y="2596307"/>
                </a:cubicBezTo>
                <a:cubicBezTo>
                  <a:pt x="1194791" y="2509625"/>
                  <a:pt x="1114221" y="2509625"/>
                  <a:pt x="1114221" y="2509625"/>
                </a:cubicBezTo>
                <a:cubicBezTo>
                  <a:pt x="1522105" y="2245455"/>
                  <a:pt x="2010559" y="2530264"/>
                  <a:pt x="2524191" y="2059708"/>
                </a:cubicBezTo>
                <a:cubicBezTo>
                  <a:pt x="2030701" y="1993667"/>
                  <a:pt x="555269" y="1960645"/>
                  <a:pt x="238027" y="1836815"/>
                </a:cubicBezTo>
                <a:cubicBezTo>
                  <a:pt x="358880" y="1882219"/>
                  <a:pt x="368952" y="1746006"/>
                  <a:pt x="424343" y="1746006"/>
                </a:cubicBezTo>
                <a:cubicBezTo>
                  <a:pt x="892655" y="1741879"/>
                  <a:pt x="1371037" y="1820305"/>
                  <a:pt x="1844384" y="1770772"/>
                </a:cubicBezTo>
                <a:cubicBezTo>
                  <a:pt x="1929989" y="1766645"/>
                  <a:pt x="2065951" y="1803793"/>
                  <a:pt x="2081058" y="1700602"/>
                </a:cubicBezTo>
                <a:cubicBezTo>
                  <a:pt x="2096164" y="1572644"/>
                  <a:pt x="1919919" y="1601537"/>
                  <a:pt x="1844384" y="1589154"/>
                </a:cubicBezTo>
                <a:cubicBezTo>
                  <a:pt x="1537212" y="1547877"/>
                  <a:pt x="1235076" y="1531367"/>
                  <a:pt x="922869" y="1506601"/>
                </a:cubicBezTo>
                <a:cubicBezTo>
                  <a:pt x="791943" y="1494218"/>
                  <a:pt x="630804" y="1518984"/>
                  <a:pt x="681160" y="1320855"/>
                </a:cubicBezTo>
                <a:cubicBezTo>
                  <a:pt x="640874" y="1130983"/>
                  <a:pt x="399166" y="1197025"/>
                  <a:pt x="273276" y="1106216"/>
                </a:cubicBezTo>
                <a:cubicBezTo>
                  <a:pt x="333703" y="998897"/>
                  <a:pt x="504913" y="1073196"/>
                  <a:pt x="555269" y="928727"/>
                </a:cubicBezTo>
                <a:cubicBezTo>
                  <a:pt x="313560" y="974131"/>
                  <a:pt x="338738" y="660428"/>
                  <a:pt x="97029" y="664555"/>
                </a:cubicBezTo>
                <a:cubicBezTo>
                  <a:pt x="-104395" y="478810"/>
                  <a:pt x="41638" y="388001"/>
                  <a:pt x="227955" y="317831"/>
                </a:cubicBezTo>
                <a:cubicBezTo>
                  <a:pt x="469664" y="231150"/>
                  <a:pt x="736551" y="251788"/>
                  <a:pt x="998402" y="235277"/>
                </a:cubicBezTo>
                <a:cubicBezTo>
                  <a:pt x="1345860" y="198128"/>
                  <a:pt x="1678209" y="111447"/>
                  <a:pt x="2030701" y="115575"/>
                </a:cubicBezTo>
                <a:cubicBezTo>
                  <a:pt x="2363052" y="28893"/>
                  <a:pt x="2730650" y="123829"/>
                  <a:pt x="3068036" y="12383"/>
                </a:cubicBezTo>
                <a:cubicBezTo>
                  <a:pt x="3410457" y="12383"/>
                  <a:pt x="3757914" y="12383"/>
                  <a:pt x="4105370" y="12383"/>
                </a:cubicBezTo>
                <a:cubicBezTo>
                  <a:pt x="4206084" y="16510"/>
                  <a:pt x="4301759" y="16510"/>
                  <a:pt x="4402472" y="20638"/>
                </a:cubicBezTo>
                <a:cubicBezTo>
                  <a:pt x="4402472" y="20638"/>
                  <a:pt x="4407507" y="20638"/>
                  <a:pt x="4407507" y="20638"/>
                </a:cubicBezTo>
                <a:cubicBezTo>
                  <a:pt x="4840570" y="33022"/>
                  <a:pt x="5268596" y="41276"/>
                  <a:pt x="5696622" y="57788"/>
                </a:cubicBezTo>
                <a:cubicBezTo>
                  <a:pt x="5857761" y="57788"/>
                  <a:pt x="6013864" y="61915"/>
                  <a:pt x="6175004" y="61915"/>
                </a:cubicBezTo>
                <a:cubicBezTo>
                  <a:pt x="6517425" y="82553"/>
                  <a:pt x="6864883" y="94936"/>
                  <a:pt x="7212339" y="66042"/>
                </a:cubicBezTo>
                <a:cubicBezTo>
                  <a:pt x="7559796" y="90809"/>
                  <a:pt x="7897182" y="74298"/>
                  <a:pt x="8244638" y="49532"/>
                </a:cubicBezTo>
                <a:cubicBezTo>
                  <a:pt x="8597130" y="78426"/>
                  <a:pt x="8944587" y="37149"/>
                  <a:pt x="9292044" y="0"/>
                </a:cubicBezTo>
                <a:lnTo>
                  <a:pt x="9379192" y="2762"/>
                </a:lnTo>
                <a:close/>
              </a:path>
            </a:pathLst>
          </a:custGeom>
          <a:solidFill>
            <a:schemeClr val="bg2">
              <a:alpha val="50000"/>
            </a:schemeClr>
          </a:solidFill>
          <a:ln w="32707" cap="flat">
            <a:noFill/>
            <a:prstDash val="solid"/>
            <a:miter/>
          </a:ln>
        </p:spPr>
        <p:txBody>
          <a:bodyPr rtlCol="0" anchor="ctr"/>
          <a:lstStyle/>
          <a:p>
            <a:endParaRPr lang="en-US"/>
          </a:p>
        </p:txBody>
      </p:sp>
      <p:pic>
        <p:nvPicPr>
          <p:cNvPr id="1026" name="Picture 2" descr="Career Training in San Diego, CA | SDGKU">
            <a:extLst>
              <a:ext uri="{FF2B5EF4-FFF2-40B4-BE49-F238E27FC236}">
                <a16:creationId xmlns:a16="http://schemas.microsoft.com/office/drawing/2014/main" id="{BCF0FF6C-CE5D-00DC-4680-138350BC1FD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8" y="891079"/>
            <a:ext cx="10905064" cy="2663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698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B5620C-013E-583F-88FC-7F7E2A5AB0AC}"/>
              </a:ext>
            </a:extLst>
          </p:cNvPr>
          <p:cNvSpPr>
            <a:spLocks noGrp="1"/>
          </p:cNvSpPr>
          <p:nvPr>
            <p:ph type="title"/>
          </p:nvPr>
        </p:nvSpPr>
        <p:spPr>
          <a:xfrm>
            <a:off x="612648" y="548640"/>
            <a:ext cx="10945037" cy="1133856"/>
          </a:xfrm>
        </p:spPr>
        <p:txBody>
          <a:bodyPr anchor="t">
            <a:normAutofit/>
          </a:bodyPr>
          <a:lstStyle/>
          <a:p>
            <a:r>
              <a:rPr lang="en-MX"/>
              <a:t>Agenda</a:t>
            </a:r>
          </a:p>
        </p:txBody>
      </p:sp>
      <p:graphicFrame>
        <p:nvGraphicFramePr>
          <p:cNvPr id="5" name="Content Placeholder 4">
            <a:extLst>
              <a:ext uri="{FF2B5EF4-FFF2-40B4-BE49-F238E27FC236}">
                <a16:creationId xmlns:a16="http://schemas.microsoft.com/office/drawing/2014/main" id="{557A8C1D-4738-6BB2-AF17-2E32AFC2F17F}"/>
              </a:ext>
            </a:extLst>
          </p:cNvPr>
          <p:cNvGraphicFramePr>
            <a:graphicFrameLocks noGrp="1"/>
          </p:cNvGraphicFramePr>
          <p:nvPr>
            <p:ph idx="1"/>
            <p:extLst>
              <p:ext uri="{D42A27DB-BD31-4B8C-83A1-F6EECF244321}">
                <p14:modId xmlns:p14="http://schemas.microsoft.com/office/powerpoint/2010/main" val="71059232"/>
              </p:ext>
              <p:ext uri="{E7BDC344-281C-4309-B0C6-D0EE65EED2A8}">
                <p202:designPr xmlns:p202="http://schemas.microsoft.com/office/powerpoint/2020/02/main">
                  <p202:designTagLst>
                    <p202:designTag name="ARCH:1:CLS" val="StackedSequentialRowTable"/>
                  </p202:designTagLst>
                </p202:designPr>
              </p:ext>
            </p:extLst>
          </p:nvPr>
        </p:nvGraphicFramePr>
        <p:xfrm>
          <a:off x="1092915" y="1829658"/>
          <a:ext cx="9984501" cy="4690300"/>
        </p:xfrm>
        <a:graphic>
          <a:graphicData uri="http://schemas.openxmlformats.org/drawingml/2006/table">
            <a:tbl>
              <a:tblPr bandRow="1">
                <a:noFill/>
                <a:tableStyleId>{5C22544A-7EE6-4342-B048-85BDC9FD1C3A}</a:tableStyleId>
              </a:tblPr>
              <a:tblGrid>
                <a:gridCol w="2254698">
                  <a:extLst>
                    <a:ext uri="{9D8B030D-6E8A-4147-A177-3AD203B41FA5}">
                      <a16:colId xmlns:a16="http://schemas.microsoft.com/office/drawing/2014/main" val="2175318605"/>
                    </a:ext>
                  </a:extLst>
                </a:gridCol>
                <a:gridCol w="7729803">
                  <a:extLst>
                    <a:ext uri="{9D8B030D-6E8A-4147-A177-3AD203B41FA5}">
                      <a16:colId xmlns:a16="http://schemas.microsoft.com/office/drawing/2014/main" val="409353528"/>
                    </a:ext>
                  </a:extLst>
                </a:gridCol>
              </a:tblGrid>
              <a:tr h="823532">
                <a:tc>
                  <a:txBody>
                    <a:bodyPr/>
                    <a:lstStyle/>
                    <a:p>
                      <a:pPr>
                        <a:buNone/>
                      </a:pPr>
                      <a:r>
                        <a:rPr lang="en-MX" sz="3300" b="1" cap="none" spc="0" dirty="0">
                          <a:solidFill>
                            <a:schemeClr val="accent1"/>
                          </a:solidFill>
                        </a:rPr>
                        <a:t>01 </a:t>
                      </a:r>
                    </a:p>
                  </a:txBody>
                  <a:tcPr marL="141446" marR="141446" marT="141446" marB="141446"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Font typeface="Arial" panose="020B0604020202020204" pitchFamily="34" charset="0"/>
                        <a:buNone/>
                      </a:pPr>
                      <a:r>
                        <a:rPr lang="en-US" sz="2400" dirty="0"/>
                        <a:t>Overview of HealthKit &amp; Xcode project setup </a:t>
                      </a:r>
                    </a:p>
                  </a:txBody>
                  <a:tcPr marL="141446" marR="141446" marT="141446" marB="141446"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903370018"/>
                  </a:ext>
                </a:extLst>
              </a:tr>
              <a:tr h="823532">
                <a:tc>
                  <a:txBody>
                    <a:bodyPr/>
                    <a:lstStyle/>
                    <a:p>
                      <a:pPr>
                        <a:buNone/>
                      </a:pPr>
                      <a:r>
                        <a:rPr lang="en-MX" sz="3300" b="1" cap="none" spc="0">
                          <a:solidFill>
                            <a:schemeClr val="accent1"/>
                          </a:solidFill>
                        </a:rPr>
                        <a:t>02</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dirty="0"/>
                        <a:t>Integrating Swift Charts or a custom chart view.</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dirty="0"/>
                        <a:t>Reading HealthKit data (steps, calories, distance).</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017236029"/>
                  </a:ext>
                </a:extLst>
              </a:tr>
              <a:tr h="823532">
                <a:tc>
                  <a:txBody>
                    <a:bodyPr/>
                    <a:lstStyle/>
                    <a:p>
                      <a:pPr>
                        <a:buNone/>
                      </a:pPr>
                      <a:r>
                        <a:rPr lang="en-MX" sz="3300" b="1" cap="none" spc="0">
                          <a:solidFill>
                            <a:schemeClr val="accent1"/>
                          </a:solidFill>
                        </a:rPr>
                        <a:t>03</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Font typeface="Arial" panose="020B0604020202020204" pitchFamily="34" charset="0"/>
                        <a:buNone/>
                      </a:pPr>
                      <a:r>
                        <a:rPr lang="en-US" sz="2400" dirty="0"/>
                        <a:t>Creating views to show metrics.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dirty="0"/>
                        <a:t>Using Combine to update UI with live HealthKit data.</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127162264"/>
                  </a:ext>
                </a:extLst>
              </a:tr>
              <a:tr h="823532">
                <a:tc>
                  <a:txBody>
                    <a:bodyPr/>
                    <a:lstStyle/>
                    <a:p>
                      <a:pPr>
                        <a:buNone/>
                      </a:pPr>
                      <a:r>
                        <a:rPr lang="en-MX" sz="3300" b="1" cap="none" spc="0">
                          <a:solidFill>
                            <a:schemeClr val="accent1"/>
                          </a:solidFill>
                        </a:rPr>
                        <a:t>04</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dirty="0"/>
                        <a:t>Displaying historical data (e.g., steps over time).</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875476747"/>
                  </a:ext>
                </a:extLst>
              </a:tr>
              <a:tr h="823532">
                <a:tc>
                  <a:txBody>
                    <a:bodyPr/>
                    <a:lstStyle/>
                    <a:p>
                      <a:pPr>
                        <a:buNone/>
                      </a:pPr>
                      <a:r>
                        <a:rPr lang="en-MX" sz="3300" b="1" cap="none" spc="0" dirty="0">
                          <a:solidFill>
                            <a:schemeClr val="accent1"/>
                          </a:solidFill>
                        </a:rPr>
                        <a:t>05</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dirty="0"/>
                        <a:t>Formatting and styling for clarity and elegance.</a:t>
                      </a:r>
                    </a:p>
                    <a:p>
                      <a:pPr>
                        <a:buFont typeface="Arial" panose="020B0604020202020204" pitchFamily="34" charset="0"/>
                        <a:buNone/>
                      </a:pPr>
                      <a:endParaRPr lang="en-US" sz="2400" dirty="0"/>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1281900304"/>
                  </a:ext>
                </a:extLst>
              </a:tr>
            </a:tbl>
          </a:graphicData>
        </a:graphic>
      </p:graphicFrame>
    </p:spTree>
    <p:extLst>
      <p:ext uri="{BB962C8B-B14F-4D97-AF65-F5344CB8AC3E}">
        <p14:creationId xmlns:p14="http://schemas.microsoft.com/office/powerpoint/2010/main" val="1676231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YARN | Do you want to develop an app? | Rick and Morty (2013) - S04E02 The  Old Man and the Seat | Video gifs by quotes | 9535e30b | 紗">
            <a:extLst>
              <a:ext uri="{FF2B5EF4-FFF2-40B4-BE49-F238E27FC236}">
                <a16:creationId xmlns:a16="http://schemas.microsoft.com/office/drawing/2014/main" id="{F709F0BD-6183-C23D-BDE1-6E7D1176E4B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60597" y="765335"/>
            <a:ext cx="9470806" cy="5327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7433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5F289D5-60A3-A158-69A9-18516BA911AF}"/>
              </a:ext>
            </a:extLst>
          </p:cNvPr>
          <p:cNvSpPr txBox="1"/>
          <p:nvPr/>
        </p:nvSpPr>
        <p:spPr>
          <a:xfrm>
            <a:off x="439387" y="0"/>
            <a:ext cx="11313226" cy="7017306"/>
          </a:xfrm>
          <a:prstGeom prst="rect">
            <a:avLst/>
          </a:prstGeom>
          <a:noFill/>
        </p:spPr>
        <p:txBody>
          <a:bodyPr wrap="square" rtlCol="0">
            <a:spAutoFit/>
          </a:bodyPr>
          <a:lstStyle/>
          <a:p>
            <a:r>
              <a:rPr lang="en-US" b="1" dirty="0"/>
              <a:t>App Overview</a:t>
            </a:r>
          </a:p>
          <a:p>
            <a:r>
              <a:rPr lang="en-US" dirty="0"/>
              <a:t>This </a:t>
            </a:r>
            <a:r>
              <a:rPr lang="en-US" dirty="0" err="1"/>
              <a:t>SwiftUI</a:t>
            </a:r>
            <a:r>
              <a:rPr lang="en-US" dirty="0"/>
              <a:t> app integrates with </a:t>
            </a:r>
            <a:r>
              <a:rPr lang="en-US" b="1" dirty="0"/>
              <a:t>Apple HealthKit</a:t>
            </a:r>
            <a:r>
              <a:rPr lang="en-US" dirty="0"/>
              <a:t> to display and manage health metrics such as </a:t>
            </a:r>
            <a:r>
              <a:rPr lang="en-US" b="1" dirty="0"/>
              <a:t>heart rate</a:t>
            </a:r>
            <a:r>
              <a:rPr lang="en-US" dirty="0"/>
              <a:t>, </a:t>
            </a:r>
            <a:r>
              <a:rPr lang="en-US" b="1" dirty="0"/>
              <a:t>steps</a:t>
            </a:r>
            <a:r>
              <a:rPr lang="en-US" dirty="0"/>
              <a:t>, and </a:t>
            </a:r>
            <a:r>
              <a:rPr lang="en-US" b="1" dirty="0"/>
              <a:t>active energy (calories)</a:t>
            </a:r>
            <a:r>
              <a:rPr lang="en-US" dirty="0"/>
              <a:t>. It provides a dashboard with charts and progress rings, plus options to manually add calories and heart rate data.</a:t>
            </a:r>
            <a:br>
              <a:rPr lang="en-US" dirty="0"/>
            </a:br>
            <a:endParaRPr lang="en-US" dirty="0"/>
          </a:p>
          <a:p>
            <a:r>
              <a:rPr lang="en-US" b="1" dirty="0"/>
              <a:t>Key Features</a:t>
            </a:r>
          </a:p>
          <a:p>
            <a:r>
              <a:rPr lang="en-US" b="1" dirty="0"/>
              <a:t>Health Data Manager</a:t>
            </a:r>
            <a:endParaRPr lang="en-US" dirty="0"/>
          </a:p>
          <a:p>
            <a:pPr lvl="1"/>
            <a:r>
              <a:rPr lang="en-US" dirty="0"/>
              <a:t>Requests HealthKit authorization for reading/writing heart rate, steps, and active energy.</a:t>
            </a:r>
          </a:p>
          <a:p>
            <a:pPr lvl="1"/>
            <a:r>
              <a:rPr lang="en-US" dirty="0"/>
              <a:t>Fetches daily steps and calories burned.</a:t>
            </a:r>
          </a:p>
          <a:p>
            <a:pPr lvl="1"/>
            <a:r>
              <a:rPr lang="en-US" dirty="0"/>
              <a:t>Observes heart rate changes in real time using </a:t>
            </a:r>
            <a:r>
              <a:rPr lang="en-US" dirty="0" err="1"/>
              <a:t>HKObserverQuery</a:t>
            </a:r>
            <a:r>
              <a:rPr lang="en-US" dirty="0"/>
              <a:t>.</a:t>
            </a:r>
          </a:p>
          <a:p>
            <a:pPr lvl="1"/>
            <a:r>
              <a:rPr lang="en-US" dirty="0"/>
              <a:t>Allows adding custom heart rate and calorie samples to HealthKit.</a:t>
            </a:r>
          </a:p>
          <a:p>
            <a:r>
              <a:rPr lang="en-US" b="1" dirty="0"/>
              <a:t>UI Components</a:t>
            </a:r>
            <a:endParaRPr lang="en-US" dirty="0"/>
          </a:p>
          <a:p>
            <a:pPr lvl="1"/>
            <a:r>
              <a:rPr lang="en-US" b="1" dirty="0" err="1"/>
              <a:t>MetricChartsView</a:t>
            </a:r>
            <a:r>
              <a:rPr lang="en-US" dirty="0"/>
              <a:t>: Displays heart rate trend (line chart), steps, and calorie progress rings.</a:t>
            </a:r>
          </a:p>
          <a:p>
            <a:pPr lvl="1"/>
            <a:r>
              <a:rPr lang="en-US" b="1" dirty="0" err="1"/>
              <a:t>AddCaloriesView</a:t>
            </a:r>
            <a:r>
              <a:rPr lang="en-US" dirty="0"/>
              <a:t>: Simple input to add calories burned.</a:t>
            </a:r>
          </a:p>
          <a:p>
            <a:pPr lvl="1"/>
            <a:r>
              <a:rPr lang="en-US" b="1" dirty="0" err="1"/>
              <a:t>AddHeartRateView</a:t>
            </a:r>
            <a:r>
              <a:rPr lang="en-US" dirty="0"/>
              <a:t>: Uses Digital Crown for heart rate input and saves to HealthKit.</a:t>
            </a:r>
          </a:p>
          <a:p>
            <a:pPr lvl="1"/>
            <a:r>
              <a:rPr lang="en-US" b="1" dirty="0" err="1"/>
              <a:t>CalorieRingView</a:t>
            </a:r>
            <a:r>
              <a:rPr lang="en-US" b="1" dirty="0"/>
              <a:t> &amp; </a:t>
            </a:r>
            <a:r>
              <a:rPr lang="en-US" b="1" dirty="0" err="1"/>
              <a:t>StepsRingView</a:t>
            </a:r>
            <a:r>
              <a:rPr lang="en-US" dirty="0"/>
              <a:t>: Circular progress indicators for goals (2500 kcal, 10,000 steps).</a:t>
            </a:r>
          </a:p>
          <a:p>
            <a:r>
              <a:rPr lang="en-US" b="1" dirty="0"/>
              <a:t>Architecture</a:t>
            </a:r>
            <a:endParaRPr lang="en-US" dirty="0"/>
          </a:p>
          <a:p>
            <a:pPr lvl="1"/>
            <a:r>
              <a:rPr lang="en-US" dirty="0"/>
              <a:t>Built with </a:t>
            </a:r>
            <a:r>
              <a:rPr lang="en-US" b="1" dirty="0" err="1"/>
              <a:t>SwiftUI</a:t>
            </a:r>
            <a:r>
              <a:rPr lang="en-US" dirty="0"/>
              <a:t> and </a:t>
            </a:r>
            <a:r>
              <a:rPr lang="en-US" b="1" dirty="0"/>
              <a:t>Charts</a:t>
            </a:r>
            <a:r>
              <a:rPr lang="en-US" dirty="0"/>
              <a:t> for visualization.</a:t>
            </a:r>
          </a:p>
          <a:p>
            <a:pPr lvl="1"/>
            <a:r>
              <a:rPr lang="en-US" dirty="0"/>
              <a:t>Uses @</a:t>
            </a:r>
            <a:r>
              <a:rPr lang="en-US" dirty="0" err="1"/>
              <a:t>ObservedObject</a:t>
            </a:r>
            <a:r>
              <a:rPr lang="en-US" dirty="0"/>
              <a:t> and @</a:t>
            </a:r>
            <a:r>
              <a:rPr lang="en-US" dirty="0" err="1"/>
              <a:t>StateObject</a:t>
            </a:r>
            <a:r>
              <a:rPr lang="en-US" dirty="0"/>
              <a:t> for reactive updates.</a:t>
            </a:r>
          </a:p>
          <a:p>
            <a:pPr lvl="1"/>
            <a:r>
              <a:rPr lang="en-US" dirty="0"/>
              <a:t>Background delivery enabled for heart rate updates.</a:t>
            </a:r>
            <a:br>
              <a:rPr lang="en-US" dirty="0"/>
            </a:br>
            <a:endParaRPr lang="en-US" dirty="0"/>
          </a:p>
          <a:p>
            <a:r>
              <a:rPr lang="en-US" b="1" dirty="0"/>
              <a:t>Purpose</a:t>
            </a:r>
          </a:p>
          <a:p>
            <a:r>
              <a:rPr lang="en-US" dirty="0"/>
              <a:t>A lightweight </a:t>
            </a:r>
            <a:r>
              <a:rPr lang="en-US" b="1" dirty="0"/>
              <a:t>health dashboard</a:t>
            </a:r>
            <a:r>
              <a:rPr lang="en-US" dirty="0"/>
              <a:t> for Apple Watch/iOS that combines real-time monitoring, manual input, and visual progress tracking for fitness goals.</a:t>
            </a:r>
          </a:p>
          <a:p>
            <a:endParaRPr lang="en-MX" dirty="0"/>
          </a:p>
        </p:txBody>
      </p:sp>
    </p:spTree>
    <p:extLst>
      <p:ext uri="{BB962C8B-B14F-4D97-AF65-F5344CB8AC3E}">
        <p14:creationId xmlns:p14="http://schemas.microsoft.com/office/powerpoint/2010/main" val="2200632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4A9F2-0FF8-9557-1C88-2BD940FE56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F0009A-E27E-E08E-7DE2-680D4155D9E2}"/>
              </a:ext>
            </a:extLst>
          </p:cNvPr>
          <p:cNvSpPr>
            <a:spLocks noGrp="1"/>
          </p:cNvSpPr>
          <p:nvPr>
            <p:ph type="ctrTitle"/>
          </p:nvPr>
        </p:nvSpPr>
        <p:spPr>
          <a:xfrm>
            <a:off x="1522476" y="5257224"/>
            <a:ext cx="9144000" cy="645539"/>
          </a:xfrm>
        </p:spPr>
        <p:txBody>
          <a:bodyPr anchor="ctr">
            <a:normAutofit fontScale="90000"/>
          </a:bodyPr>
          <a:lstStyle/>
          <a:p>
            <a:r>
              <a:rPr lang="en-US" b="1" dirty="0"/>
              <a:t>MDI1 113: Mobile Applications for Wearables – Intermediate</a:t>
            </a:r>
            <a:br>
              <a:rPr lang="en-US" sz="4400" dirty="0"/>
            </a:br>
            <a:r>
              <a:rPr lang="en-US" sz="4400" dirty="0"/>
              <a:t>Class 4</a:t>
            </a:r>
            <a:endParaRPr lang="en-MX" sz="4400" dirty="0"/>
          </a:p>
        </p:txBody>
      </p:sp>
      <p:pic>
        <p:nvPicPr>
          <p:cNvPr id="1026" name="Picture 2" descr="Career Training in San Diego, CA | SDGKU">
            <a:extLst>
              <a:ext uri="{FF2B5EF4-FFF2-40B4-BE49-F238E27FC236}">
                <a16:creationId xmlns:a16="http://schemas.microsoft.com/office/drawing/2014/main" id="{116747E5-C2A6-7257-F9D6-0EBC4EF6D98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8" y="891079"/>
            <a:ext cx="10905064" cy="2663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6872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69B36F-2CED-A1ED-D072-50641412359C}"/>
              </a:ext>
            </a:extLst>
          </p:cNvPr>
          <p:cNvSpPr>
            <a:spLocks noGrp="1"/>
          </p:cNvSpPr>
          <p:nvPr>
            <p:ph type="title"/>
          </p:nvPr>
        </p:nvSpPr>
        <p:spPr>
          <a:xfrm>
            <a:off x="686834" y="1153572"/>
            <a:ext cx="3200400" cy="4461163"/>
          </a:xfrm>
        </p:spPr>
        <p:txBody>
          <a:bodyPr>
            <a:normAutofit/>
          </a:bodyPr>
          <a:lstStyle/>
          <a:p>
            <a:r>
              <a:rPr lang="en-MX">
                <a:solidFill>
                  <a:srgbClr val="FFFFFF"/>
                </a:solidFill>
              </a:rPr>
              <a:t>Overview</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620C2B0-9808-16C5-9D3B-E75E43CD73EC}"/>
              </a:ext>
            </a:extLst>
          </p:cNvPr>
          <p:cNvSpPr>
            <a:spLocks noGrp="1"/>
          </p:cNvSpPr>
          <p:nvPr>
            <p:ph idx="1"/>
          </p:nvPr>
        </p:nvSpPr>
        <p:spPr>
          <a:xfrm>
            <a:off x="4447308" y="591344"/>
            <a:ext cx="6906491" cy="5585619"/>
          </a:xfrm>
        </p:spPr>
        <p:txBody>
          <a:bodyPr anchor="ctr">
            <a:normAutofit/>
          </a:bodyPr>
          <a:lstStyle/>
          <a:p>
            <a:r>
              <a:rPr lang="en-US" sz="1500" dirty="0"/>
              <a:t>In the final class, students will learn how to implement </a:t>
            </a:r>
            <a:r>
              <a:rPr lang="en-US" sz="1500" b="1" dirty="0"/>
              <a:t>contextual notifications</a:t>
            </a:r>
            <a:r>
              <a:rPr lang="en-US" sz="1500" dirty="0"/>
              <a:t> and manage </a:t>
            </a:r>
            <a:r>
              <a:rPr lang="en-US" sz="1500" b="1" dirty="0"/>
              <a:t>sensor data synchronization</a:t>
            </a:r>
            <a:r>
              <a:rPr lang="en-US" sz="1500" dirty="0"/>
              <a:t> for wearable apps. Wearable apps require efficient data handling to ensure that they provide real-time feedback without draining the device’s battery. This class will focus on designing apps that respond to changes in sensor data by triggering notifications or feedback loops. Contextual notifications are used to alert users about important events, such as reaching a step goal or exceeding a target heart rate.</a:t>
            </a:r>
          </a:p>
          <a:p>
            <a:r>
              <a:rPr lang="en-US" sz="1500" dirty="0"/>
              <a:t>Students will also explore how to manage large streams of sensor data from various sources like the accelerometer, gyroscope, and health sensors in a way that is power-efficient. The challenge is to synchronize this data in a manner that does not overtax the system’s resources while still providing real-time responses to the user. Techniques such as reducing the frequency of updates or using batch processing for sensor data will be covered.</a:t>
            </a:r>
          </a:p>
          <a:p>
            <a:r>
              <a:rPr lang="en-US" sz="1500" dirty="0"/>
              <a:t>Moreover, students will learn about implementing </a:t>
            </a:r>
            <a:r>
              <a:rPr lang="en-US" sz="1500" b="1" dirty="0"/>
              <a:t>background tasks</a:t>
            </a:r>
            <a:r>
              <a:rPr lang="en-US" sz="1500" dirty="0"/>
              <a:t> to ensure that sensor data collection continues even when the app is not actively in the foreground. The class will also cover how to implement </a:t>
            </a:r>
            <a:r>
              <a:rPr lang="en-US" sz="1500" b="1" dirty="0"/>
              <a:t>user feedback loops</a:t>
            </a:r>
            <a:r>
              <a:rPr lang="en-US" sz="1500" dirty="0"/>
              <a:t>, providing actionable responses to the user based on real-time sensor data (e.g., “Great job, you’ve hit your target!” or “Take a break, your heart rate is elevated”).</a:t>
            </a:r>
          </a:p>
          <a:p>
            <a:r>
              <a:rPr lang="en-US" sz="1500" dirty="0"/>
              <a:t>By the end of this class, students will have a solid understanding of how to design and implement responsive, power-efficient wearable apps that leverage contextual notifications, manage sensor data effectively, and offer real-time feedback to users.</a:t>
            </a:r>
          </a:p>
        </p:txBody>
      </p:sp>
    </p:spTree>
    <p:extLst>
      <p:ext uri="{BB962C8B-B14F-4D97-AF65-F5344CB8AC3E}">
        <p14:creationId xmlns:p14="http://schemas.microsoft.com/office/powerpoint/2010/main" val="846421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BDAF34-9065-3B97-EFFE-C803AD25F9D4}"/>
              </a:ext>
            </a:extLst>
          </p:cNvPr>
          <p:cNvSpPr>
            <a:spLocks noGrp="1"/>
          </p:cNvSpPr>
          <p:nvPr>
            <p:ph type="title"/>
          </p:nvPr>
        </p:nvSpPr>
        <p:spPr>
          <a:xfrm>
            <a:off x="630936" y="640080"/>
            <a:ext cx="4818888" cy="1481328"/>
          </a:xfrm>
        </p:spPr>
        <p:txBody>
          <a:bodyPr anchor="b">
            <a:normAutofit/>
          </a:bodyPr>
          <a:lstStyle/>
          <a:p>
            <a:r>
              <a:rPr lang="en-MX" sz="5000"/>
              <a:t>Contextual Notifications</a:t>
            </a:r>
          </a:p>
        </p:txBody>
      </p:sp>
      <p:sp>
        <p:nvSpPr>
          <p:cNvPr id="20"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71096378-9B8B-953E-45EB-7B440D106FA7}"/>
              </a:ext>
            </a:extLst>
          </p:cNvPr>
          <p:cNvSpPr>
            <a:spLocks noGrp="1" noChangeArrowheads="1"/>
          </p:cNvSpPr>
          <p:nvPr>
            <p:ph idx="1"/>
          </p:nvPr>
        </p:nvSpPr>
        <p:spPr bwMode="auto">
          <a:xfrm>
            <a:off x="630936" y="2660904"/>
            <a:ext cx="4818888" cy="354787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None/>
              <a:tabLst/>
            </a:pPr>
            <a:r>
              <a:rPr kumimoji="0" lang="en-MX" altLang="en-MX" sz="2200" b="1" i="0" u="none" strike="noStrike" cap="none" normalizeH="0" baseline="0" dirty="0">
                <a:ln>
                  <a:noFill/>
                </a:ln>
                <a:effectLst/>
                <a:latin typeface="Arial" panose="020B0604020202020204" pitchFamily="34" charset="0"/>
              </a:rPr>
              <a:t>Concepts</a:t>
            </a:r>
            <a:r>
              <a:rPr kumimoji="0" lang="en-MX" altLang="en-MX" sz="2200" b="0" i="0" u="none" strike="noStrike" cap="none" normalizeH="0" baseline="0" dirty="0">
                <a:ln>
                  <a:noFill/>
                </a:ln>
                <a:effectLst/>
                <a:latin typeface="Arial" panose="020B0604020202020204" pitchFamily="34" charset="0"/>
              </a:rPr>
              <a:t>: </a:t>
            </a:r>
          </a:p>
          <a:p>
            <a:pPr marL="0" marR="0" lvl="0" indent="0" defTabSz="914400" rtl="0" eaLnBrk="0" fontAlgn="base" latinLnBrk="0" hangingPunct="0">
              <a:spcBef>
                <a:spcPct val="0"/>
              </a:spcBef>
              <a:spcAft>
                <a:spcPts val="600"/>
              </a:spcAft>
              <a:buClrTx/>
              <a:buSzTx/>
              <a:buFontTx/>
              <a:buChar char="•"/>
              <a:tabLst/>
            </a:pPr>
            <a:r>
              <a:rPr kumimoji="0" lang="en-MX" altLang="en-MX" sz="2200" b="0" i="0" u="none" strike="noStrike" cap="none" normalizeH="0" baseline="0" dirty="0">
                <a:ln>
                  <a:noFill/>
                </a:ln>
                <a:effectLst/>
                <a:latin typeface="Arial" panose="020B0604020202020204" pitchFamily="34" charset="0"/>
              </a:rPr>
              <a:t>Triggering alerts based on sensor thresholds. </a:t>
            </a:r>
          </a:p>
          <a:p>
            <a:pPr marL="0" marR="0" lvl="0" indent="0" defTabSz="914400" rtl="0" eaLnBrk="0" fontAlgn="base" latinLnBrk="0" hangingPunct="0">
              <a:spcBef>
                <a:spcPct val="0"/>
              </a:spcBef>
              <a:spcAft>
                <a:spcPts val="600"/>
              </a:spcAft>
              <a:buClrTx/>
              <a:buSzTx/>
              <a:buFontTx/>
              <a:buChar char="•"/>
              <a:tabLst/>
            </a:pPr>
            <a:r>
              <a:rPr kumimoji="0" lang="en-MX" altLang="en-MX" sz="2200" b="0" i="0" u="none" strike="noStrike" cap="none" normalizeH="0" baseline="0" dirty="0">
                <a:ln>
                  <a:noFill/>
                </a:ln>
                <a:effectLst/>
                <a:latin typeface="Arial" panose="020B0604020202020204" pitchFamily="34" charset="0"/>
              </a:rPr>
              <a:t>Examples: step goal reached, elevated heart rate. </a:t>
            </a:r>
          </a:p>
        </p:txBody>
      </p:sp>
      <p:pic>
        <p:nvPicPr>
          <p:cNvPr id="6" name="Picture 5" descr="A screenshot of a computer program&#10;&#10;AI-generated content may be incorrect.">
            <a:extLst>
              <a:ext uri="{FF2B5EF4-FFF2-40B4-BE49-F238E27FC236}">
                <a16:creationId xmlns:a16="http://schemas.microsoft.com/office/drawing/2014/main" id="{BDCDA7AF-1BF7-C331-FFE5-23D23EBB3A3B}"/>
              </a:ext>
            </a:extLst>
          </p:cNvPr>
          <p:cNvPicPr>
            <a:picLocks noChangeAspect="1"/>
          </p:cNvPicPr>
          <p:nvPr/>
        </p:nvPicPr>
        <p:blipFill>
          <a:blip r:embed="rId2"/>
          <a:srcRect l="6080" t="9534" r="7032" b="10044"/>
          <a:stretch>
            <a:fillRect/>
          </a:stretch>
        </p:blipFill>
        <p:spPr>
          <a:xfrm>
            <a:off x="5478127" y="1510374"/>
            <a:ext cx="6713873" cy="3837252"/>
          </a:xfrm>
          <a:prstGeom prst="rect">
            <a:avLst/>
          </a:prstGeom>
        </p:spPr>
      </p:pic>
    </p:spTree>
    <p:extLst>
      <p:ext uri="{BB962C8B-B14F-4D97-AF65-F5344CB8AC3E}">
        <p14:creationId xmlns:p14="http://schemas.microsoft.com/office/powerpoint/2010/main" val="893838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105" name="Arc 4104">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71303D1-77C4-3A73-4405-886907289426}"/>
              </a:ext>
            </a:extLst>
          </p:cNvPr>
          <p:cNvSpPr>
            <a:spLocks noGrp="1"/>
          </p:cNvSpPr>
          <p:nvPr>
            <p:ph type="title"/>
          </p:nvPr>
        </p:nvSpPr>
        <p:spPr>
          <a:xfrm>
            <a:off x="5425033" y="-133887"/>
            <a:ext cx="5458838" cy="1325563"/>
          </a:xfrm>
        </p:spPr>
        <p:txBody>
          <a:bodyPr>
            <a:normAutofit/>
          </a:bodyPr>
          <a:lstStyle/>
          <a:p>
            <a:r>
              <a:rPr lang="en-MX" dirty="0"/>
              <a:t>Battery Management</a:t>
            </a:r>
          </a:p>
        </p:txBody>
      </p:sp>
      <p:sp>
        <p:nvSpPr>
          <p:cNvPr id="4107" name="Freeform: Shape 4106">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098" name="Picture 2" descr="Abstract Battery supply digital concept">
            <a:extLst>
              <a:ext uri="{FF2B5EF4-FFF2-40B4-BE49-F238E27FC236}">
                <a16:creationId xmlns:a16="http://schemas.microsoft.com/office/drawing/2014/main" id="{3234DCEF-B2A9-221E-25CF-3A9702481A0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81095" y="528894"/>
            <a:ext cx="3583536" cy="56656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DE4A4DF5-A814-46B3-A786-F93B8A6959DF}"/>
              </a:ext>
            </a:extLst>
          </p:cNvPr>
          <p:cNvSpPr>
            <a:spLocks noGrp="1"/>
          </p:cNvSpPr>
          <p:nvPr>
            <p:ph idx="1"/>
          </p:nvPr>
        </p:nvSpPr>
        <p:spPr>
          <a:xfrm>
            <a:off x="5425033" y="871350"/>
            <a:ext cx="5458838" cy="4192520"/>
          </a:xfrm>
        </p:spPr>
        <p:txBody>
          <a:bodyPr>
            <a:noAutofit/>
          </a:bodyPr>
          <a:lstStyle/>
          <a:p>
            <a:r>
              <a:rPr lang="en-US" sz="1200" b="1" dirty="0"/>
              <a:t>Efficient Sensor Data Handling</a:t>
            </a:r>
            <a:endParaRPr lang="en-US" sz="1200" dirty="0"/>
          </a:p>
          <a:p>
            <a:r>
              <a:rPr lang="en-US" sz="1200" dirty="0"/>
              <a:t>Used </a:t>
            </a:r>
            <a:r>
              <a:rPr lang="en-US" sz="1200" dirty="0" err="1"/>
              <a:t>HKObserverQuery</a:t>
            </a:r>
            <a:r>
              <a:rPr lang="en-US" sz="1200" dirty="0"/>
              <a:t> to listen for changes in heart rate data without polling.</a:t>
            </a:r>
          </a:p>
          <a:p>
            <a:r>
              <a:rPr lang="en-US" sz="1200" dirty="0"/>
              <a:t>Avoided frequent </a:t>
            </a:r>
            <a:r>
              <a:rPr lang="en-US" sz="1200" dirty="0" err="1"/>
              <a:t>HKSampleQuery</a:t>
            </a:r>
            <a:r>
              <a:rPr lang="en-US" sz="1200" dirty="0"/>
              <a:t> calls by triggering updates only when new data is available.</a:t>
            </a:r>
          </a:p>
          <a:p>
            <a:r>
              <a:rPr lang="en-US" sz="1200" b="1" dirty="0"/>
              <a:t>2. Background Delivery</a:t>
            </a:r>
            <a:endParaRPr lang="en-US" sz="1200" dirty="0"/>
          </a:p>
          <a:p>
            <a:r>
              <a:rPr lang="en-US" sz="1200" dirty="0"/>
              <a:t>Enabled background updates using </a:t>
            </a:r>
            <a:r>
              <a:rPr lang="en-US" sz="1200" dirty="0" err="1"/>
              <a:t>enableBackgroundDelivery</a:t>
            </a:r>
            <a:r>
              <a:rPr lang="en-US" sz="1200" dirty="0"/>
              <a:t> for heart rate.</a:t>
            </a:r>
          </a:p>
          <a:p>
            <a:r>
              <a:rPr lang="en-US" sz="1200" dirty="0"/>
              <a:t>Ensures data sync continues even when the app is not in the foreground.</a:t>
            </a:r>
          </a:p>
          <a:p>
            <a:r>
              <a:rPr lang="en-US" sz="1200" b="1" dirty="0"/>
              <a:t>3. Reduced Update Frequency</a:t>
            </a:r>
            <a:endParaRPr lang="en-US" sz="1200" dirty="0"/>
          </a:p>
          <a:p>
            <a:r>
              <a:rPr lang="en-US" sz="1200" dirty="0"/>
              <a:t>Limited the number of samples fetched per query (e.g., limit: 100).</a:t>
            </a:r>
          </a:p>
          <a:p>
            <a:r>
              <a:rPr lang="en-US" sz="1200" dirty="0"/>
              <a:t>Used </a:t>
            </a:r>
            <a:r>
              <a:rPr lang="en-US" sz="1200" dirty="0" err="1"/>
              <a:t>HKStatisticsQuery</a:t>
            </a:r>
            <a:r>
              <a:rPr lang="en-US" sz="1200" dirty="0"/>
              <a:t> for cumulative metrics like steps and calories to avoid processing raw samples.</a:t>
            </a:r>
          </a:p>
          <a:p>
            <a:r>
              <a:rPr lang="en-US" sz="1200" b="1" dirty="0"/>
              <a:t>4. Feedback Loop Optimization</a:t>
            </a:r>
            <a:endParaRPr lang="en-US" sz="1200" dirty="0"/>
          </a:p>
          <a:p>
            <a:r>
              <a:rPr lang="en-US" sz="1200" dirty="0"/>
              <a:t>Triggered feedback and notifications only when thresholds are crossed (e.g., heart rate &gt; 120 bpm).</a:t>
            </a:r>
          </a:p>
          <a:p>
            <a:r>
              <a:rPr lang="en-US" sz="1200" dirty="0"/>
              <a:t>Prevented unnecessary UI updates or alerts.</a:t>
            </a:r>
          </a:p>
          <a:p>
            <a:r>
              <a:rPr lang="en-US" sz="1200" b="1" dirty="0"/>
              <a:t>5. Avoided Polling</a:t>
            </a:r>
            <a:endParaRPr lang="en-US" sz="1200" dirty="0"/>
          </a:p>
          <a:p>
            <a:r>
              <a:rPr lang="en-US" sz="1200" dirty="0"/>
              <a:t>No use of timers or continuous loops for data refresh.</a:t>
            </a:r>
          </a:p>
          <a:p>
            <a:r>
              <a:rPr lang="en-US" sz="1200" dirty="0"/>
              <a:t>Relied on HealthKit’s event-driven architecture for updates.</a:t>
            </a:r>
          </a:p>
          <a:p>
            <a:r>
              <a:rPr lang="en-US" sz="1200" b="1" dirty="0"/>
              <a:t>6. Lightweight UI Components</a:t>
            </a:r>
            <a:endParaRPr lang="en-US" sz="1200" dirty="0"/>
          </a:p>
          <a:p>
            <a:r>
              <a:rPr lang="en-US" sz="1200" dirty="0"/>
              <a:t>Used </a:t>
            </a:r>
            <a:r>
              <a:rPr lang="en-US" sz="1200" dirty="0" err="1"/>
              <a:t>ProgressView</a:t>
            </a:r>
            <a:r>
              <a:rPr lang="en-US" sz="1200" dirty="0"/>
              <a:t> and Chart with minimal animation and layout overhead.</a:t>
            </a:r>
          </a:p>
          <a:p>
            <a:r>
              <a:rPr lang="en-US" sz="1200" dirty="0"/>
              <a:t>Ensured smooth rendering without draining resources.</a:t>
            </a:r>
          </a:p>
          <a:p>
            <a:endParaRPr lang="en-MX" sz="1200" dirty="0"/>
          </a:p>
        </p:txBody>
      </p:sp>
    </p:spTree>
    <p:extLst>
      <p:ext uri="{BB962C8B-B14F-4D97-AF65-F5344CB8AC3E}">
        <p14:creationId xmlns:p14="http://schemas.microsoft.com/office/powerpoint/2010/main" val="25493969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2676</TotalTime>
  <Words>781</Words>
  <Application>Microsoft Macintosh PowerPoint</Application>
  <PresentationFormat>Widescreen</PresentationFormat>
  <Paragraphs>64</Paragraphs>
  <Slides>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Calibri</vt:lpstr>
      <vt:lpstr>Office Theme</vt:lpstr>
      <vt:lpstr>MDI1 113: Mobile Applications for Wearables – Intermediate Class 3</vt:lpstr>
      <vt:lpstr>Agenda</vt:lpstr>
      <vt:lpstr>PowerPoint Presentation</vt:lpstr>
      <vt:lpstr>PowerPoint Presentation</vt:lpstr>
      <vt:lpstr>MDI1 113: Mobile Applications for Wearables – Intermediate Class 4</vt:lpstr>
      <vt:lpstr>Overview</vt:lpstr>
      <vt:lpstr>Contextual Notifications</vt:lpstr>
      <vt:lpstr>Battery Management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Ramses García Duran</dc:creator>
  <cp:lastModifiedBy>Ramses García Duran</cp:lastModifiedBy>
  <cp:revision>2</cp:revision>
  <dcterms:created xsi:type="dcterms:W3CDTF">2025-10-27T01:36:08Z</dcterms:created>
  <dcterms:modified xsi:type="dcterms:W3CDTF">2025-12-05T03:42:54Z</dcterms:modified>
</cp:coreProperties>
</file>