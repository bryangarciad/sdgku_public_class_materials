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8938e8ac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8938e8ac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8938e8ac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18938e8ac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1b9e6bbe58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1b9e6bbe58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b9e6bbe58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1b9e6bbe58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b9e6bbe58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1b9e6bbe58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b9e6bbe58_2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1b9e6bbe58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b9e6bbe58_2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1b9e6bbe58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b9e6bbe58_2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b9e6bbe58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1b9e6bbe58_2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1b9e6bbe58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b9e6bbe58_2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1b9e6bbe58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b9e6bbe58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1b9e6bbe58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b9e6bbe58_2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1b9e6bbe58_2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b9e6bbe58_2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1b9e6bbe58_2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b9e6bbe58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1b9e6bbe58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1b9e6bbe58_2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1b9e6bbe58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1b9e6bbe58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1b9e6bbe58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1b9e6bbe58_2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1b9e6bbe58_2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1b9e6bbe58_2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1b9e6bbe58_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1899494664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1899494664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81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70">
                <a:latin typeface="Trebuchet MS"/>
                <a:ea typeface="Trebuchet MS"/>
                <a:cs typeface="Trebuchet MS"/>
                <a:sym typeface="Trebuchet MS"/>
              </a:rPr>
              <a:t>MDI1 113: MOBILE APPLICATIONS FOR WEARABLES -</a:t>
            </a:r>
            <a:endParaRPr sz="287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70">
                <a:latin typeface="Trebuchet MS"/>
                <a:ea typeface="Trebuchet MS"/>
                <a:cs typeface="Trebuchet MS"/>
                <a:sym typeface="Trebuchet MS"/>
              </a:rPr>
              <a:t>INTERMEDIATE</a:t>
            </a:r>
            <a:endParaRPr sz="287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2000" y="3148487"/>
            <a:ext cx="4320000" cy="1054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34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s" sz="1500">
                <a:latin typeface="Trebuchet MS"/>
                <a:ea typeface="Trebuchet MS"/>
                <a:cs typeface="Trebuchet MS"/>
                <a:sym typeface="Trebuchet MS"/>
              </a:rPr>
              <a:t>Class 1: Advanced Movement and Activity Tracking</a:t>
            </a:r>
            <a:endParaRPr sz="3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920550"/>
            <a:ext cx="8278200" cy="9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Core Motion?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629775"/>
            <a:ext cx="4854300" cy="28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1"/>
                </a:solidFill>
              </a:rPr>
              <a:t>Understanding Core Motion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Title</a:t>
            </a:r>
            <a:r>
              <a:rPr lang="es" sz="1100">
                <a:solidFill>
                  <a:schemeClr val="dk1"/>
                </a:solidFill>
              </a:rPr>
              <a:t>: Core Motion Framework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Definition</a:t>
            </a:r>
            <a:r>
              <a:rPr lang="es" sz="1100">
                <a:solidFill>
                  <a:schemeClr val="dk1"/>
                </a:solidFill>
              </a:rPr>
              <a:t>:</a:t>
            </a:r>
            <a:br>
              <a:rPr lang="es" sz="1100">
                <a:solidFill>
                  <a:schemeClr val="dk1"/>
                </a:solidFill>
              </a:rPr>
            </a:br>
            <a:r>
              <a:rPr lang="es" sz="1100">
                <a:solidFill>
                  <a:schemeClr val="dk1"/>
                </a:solidFill>
              </a:rPr>
              <a:t>Core Motion is Apple’s framework for accessing motion data from device sensors.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Provides access to accelerometer, gyroscope, and pedometer data.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Why Use Core Motion?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To track user movement and activity.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To create motion-driven apps for fitness, navigation, and more.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8359075" y="97150"/>
            <a:ext cx="732600" cy="3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s" sz="1200">
                <a:latin typeface="Trebuchet MS"/>
                <a:ea typeface="Trebuchet MS"/>
                <a:cs typeface="Trebuchet MS"/>
                <a:sym typeface="Trebuchet MS"/>
              </a:rPr>
              <a:t>Cass 1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555600"/>
            <a:ext cx="5512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Trebuchet MS"/>
                <a:ea typeface="Trebuchet MS"/>
                <a:cs typeface="Trebuchet MS"/>
                <a:sym typeface="Trebuchet MS"/>
              </a:rPr>
              <a:t>Sensor Overview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16375" y="1374650"/>
            <a:ext cx="3097500" cy="3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Key Sensors in Core Motion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Accelerometer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Measures linear motion and orientation.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Example: Detecting steps or tilting the wrist.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Gyroscope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Detects rotational motion.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Example: Tracking head movement in VR applications.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Pedometer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Tracks steps, walking distance, and activity levels.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8359075" y="97150"/>
            <a:ext cx="732600" cy="3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s" sz="1200">
                <a:latin typeface="Trebuchet MS"/>
                <a:ea typeface="Trebuchet MS"/>
                <a:cs typeface="Trebuchet MS"/>
                <a:sym typeface="Trebuchet MS"/>
              </a:rPr>
              <a:t>Cass 1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555600"/>
            <a:ext cx="5512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Trebuchet MS"/>
                <a:ea typeface="Trebuchet MS"/>
                <a:cs typeface="Trebuchet MS"/>
                <a:sym typeface="Trebuchet MS"/>
              </a:rPr>
              <a:t>Practical Applications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416375" y="1374650"/>
            <a:ext cx="3097500" cy="3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Core Motion in Action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Fitness Apps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Track activities like running, cycling, and stair climbing.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Navigation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Use sensor data to guide users in the right direction.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Gesture Recognition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Enable features like shaking to undo or rotating to zoom.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7" name="Google Shape;77;p16"/>
          <p:cNvSpPr txBox="1"/>
          <p:nvPr>
            <p:ph type="title"/>
          </p:nvPr>
        </p:nvSpPr>
        <p:spPr>
          <a:xfrm>
            <a:off x="8359075" y="97150"/>
            <a:ext cx="732600" cy="3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s" sz="1200">
                <a:latin typeface="Trebuchet MS"/>
                <a:ea typeface="Trebuchet MS"/>
                <a:cs typeface="Trebuchet MS"/>
                <a:sym typeface="Trebuchet MS"/>
              </a:rPr>
              <a:t>Cass 1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555600"/>
            <a:ext cx="5512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Trebuchet MS"/>
                <a:ea typeface="Trebuchet MS"/>
                <a:cs typeface="Trebuchet MS"/>
                <a:sym typeface="Trebuchet MS"/>
              </a:rPr>
              <a:t>Implementing Core Motion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416375" y="1374650"/>
            <a:ext cx="3097500" cy="3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Example: Capturing Motion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Step-by-Step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" sz="1100">
                <a:solidFill>
                  <a:schemeClr val="dk1"/>
                </a:solidFill>
              </a:rPr>
              <a:t>Import Core Motion.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" sz="1100">
                <a:solidFill>
                  <a:schemeClr val="dk1"/>
                </a:solidFill>
              </a:rPr>
              <a:t>Initialize a motion manager.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" sz="1100">
                <a:solidFill>
                  <a:schemeClr val="dk1"/>
                </a:solidFill>
              </a:rPr>
              <a:t>Start capturing sensor data.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Code Example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4" name="Google Shape;84;p17"/>
          <p:cNvSpPr txBox="1"/>
          <p:nvPr>
            <p:ph type="title"/>
          </p:nvPr>
        </p:nvSpPr>
        <p:spPr>
          <a:xfrm>
            <a:off x="8359075" y="97150"/>
            <a:ext cx="732600" cy="3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s" sz="1200">
                <a:latin typeface="Trebuchet MS"/>
                <a:ea typeface="Trebuchet MS"/>
                <a:cs typeface="Trebuchet MS"/>
                <a:sym typeface="Trebuchet MS"/>
              </a:rPr>
              <a:t>Cass 1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0" y="1440000"/>
            <a:ext cx="4680003" cy="2290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555600"/>
            <a:ext cx="5512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Trebuchet MS"/>
                <a:ea typeface="Trebuchet MS"/>
                <a:cs typeface="Trebuchet MS"/>
                <a:sym typeface="Trebuchet MS"/>
              </a:rPr>
              <a:t>Detecting Patterns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416375" y="1374650"/>
            <a:ext cx="3097500" cy="3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Advanced Motion Detection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Pattern Recognition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Combine accelerometer and gyroscope data to detect activities like jumping or squatting.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Real-Life Example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A fitness app provides feedback on running posture using motion data.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2" name="Google Shape;92;p18"/>
          <p:cNvSpPr txBox="1"/>
          <p:nvPr>
            <p:ph type="title"/>
          </p:nvPr>
        </p:nvSpPr>
        <p:spPr>
          <a:xfrm>
            <a:off x="8359075" y="97150"/>
            <a:ext cx="732600" cy="3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s" sz="1200">
                <a:latin typeface="Trebuchet MS"/>
                <a:ea typeface="Trebuchet MS"/>
                <a:cs typeface="Trebuchet MS"/>
                <a:sym typeface="Trebuchet MS"/>
              </a:rPr>
              <a:t>Cass 1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555600"/>
            <a:ext cx="5512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Trebuchet MS"/>
                <a:ea typeface="Trebuchet MS"/>
                <a:cs typeface="Trebuchet MS"/>
                <a:sym typeface="Trebuchet MS"/>
              </a:rPr>
              <a:t>Challenges in Motion Tracking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416375" y="1374650"/>
            <a:ext cx="3097500" cy="3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Common Issues and Solutions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Challenges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Sensor noise: Small, random inaccuracies in data.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Power consumption: Continuous tracking drains battery life.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Solutions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Apply filters to clean noisy data.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Use batching to process data in intervals.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9" name="Google Shape;99;p19"/>
          <p:cNvSpPr txBox="1"/>
          <p:nvPr>
            <p:ph type="title"/>
          </p:nvPr>
        </p:nvSpPr>
        <p:spPr>
          <a:xfrm>
            <a:off x="8359075" y="97150"/>
            <a:ext cx="732600" cy="3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s" sz="1200">
                <a:latin typeface="Trebuchet MS"/>
                <a:ea typeface="Trebuchet MS"/>
                <a:cs typeface="Trebuchet MS"/>
                <a:sym typeface="Trebuchet MS"/>
              </a:rPr>
              <a:t>Cass 1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555600"/>
            <a:ext cx="5512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Trebuchet MS"/>
                <a:ea typeface="Trebuchet MS"/>
                <a:cs typeface="Trebuchet MS"/>
                <a:sym typeface="Trebuchet MS"/>
              </a:rPr>
              <a:t>Class 2: Capturing Images and Media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416375" y="1374650"/>
            <a:ext cx="3097500" cy="3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1"/>
                </a:solidFill>
              </a:rPr>
              <a:t>Wearable Media Capture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Title</a:t>
            </a:r>
            <a:r>
              <a:rPr lang="es" sz="1100">
                <a:solidFill>
                  <a:schemeClr val="dk1"/>
                </a:solidFill>
              </a:rPr>
              <a:t>: Using Wearables for Photography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Capabilities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Remotely control a paired iPhone camera.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Display captured photos/videos on wearable screens.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6" name="Google Shape;106;p20"/>
          <p:cNvSpPr txBox="1"/>
          <p:nvPr>
            <p:ph type="title"/>
          </p:nvPr>
        </p:nvSpPr>
        <p:spPr>
          <a:xfrm>
            <a:off x="8359075" y="97150"/>
            <a:ext cx="732600" cy="3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s" sz="1200">
                <a:latin typeface="Trebuchet MS"/>
                <a:ea typeface="Trebuchet MS"/>
                <a:cs typeface="Trebuchet MS"/>
                <a:sym typeface="Trebuchet MS"/>
              </a:rPr>
              <a:t>Cass 1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555600"/>
            <a:ext cx="5512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Trebuchet MS"/>
                <a:ea typeface="Trebuchet MS"/>
                <a:cs typeface="Trebuchet MS"/>
                <a:sym typeface="Trebuchet MS"/>
              </a:rPr>
              <a:t>AVFoundation Basics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416375" y="1374650"/>
            <a:ext cx="3097500" cy="3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Introduction to AVFoundation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What is AVFoundation?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Apple’s framework for media processing.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Supports photo/video capture and playback.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Use Cases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Enable remote camera control on wearables.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Capture photos/videos and share them instantly.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13" name="Google Shape;113;p21"/>
          <p:cNvSpPr txBox="1"/>
          <p:nvPr>
            <p:ph type="title"/>
          </p:nvPr>
        </p:nvSpPr>
        <p:spPr>
          <a:xfrm>
            <a:off x="8359075" y="97150"/>
            <a:ext cx="732600" cy="3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s" sz="1200">
                <a:latin typeface="Trebuchet MS"/>
                <a:ea typeface="Trebuchet MS"/>
                <a:cs typeface="Trebuchet MS"/>
                <a:sym typeface="Trebuchet MS"/>
              </a:rPr>
              <a:t>Cass 1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555600"/>
            <a:ext cx="5512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Trebuchet MS"/>
                <a:ea typeface="Trebuchet MS"/>
                <a:cs typeface="Trebuchet MS"/>
                <a:sym typeface="Trebuchet MS"/>
              </a:rPr>
              <a:t>Example Workflow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416375" y="1374650"/>
            <a:ext cx="3097500" cy="3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Capturing Media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Steps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" sz="1100">
                <a:solidFill>
                  <a:schemeClr val="dk1"/>
                </a:solidFill>
              </a:rPr>
              <a:t>Send a command from the wearable using Watch Connectivity.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" sz="1100">
                <a:solidFill>
                  <a:schemeClr val="dk1"/>
                </a:solidFill>
              </a:rPr>
              <a:t>Execute the capture process on the paired iPhone.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" sz="1100">
                <a:solidFill>
                  <a:schemeClr val="dk1"/>
                </a:solidFill>
              </a:rPr>
              <a:t>Synchronize and display the image on the wearable.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Code Example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0" name="Google Shape;120;p22"/>
          <p:cNvSpPr txBox="1"/>
          <p:nvPr>
            <p:ph type="title"/>
          </p:nvPr>
        </p:nvSpPr>
        <p:spPr>
          <a:xfrm>
            <a:off x="8359075" y="97150"/>
            <a:ext cx="732600" cy="3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s" sz="1200">
                <a:latin typeface="Trebuchet MS"/>
                <a:ea typeface="Trebuchet MS"/>
                <a:cs typeface="Trebuchet MS"/>
                <a:sym typeface="Trebuchet MS"/>
              </a:rPr>
              <a:t>Cass 1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0000" y="1440000"/>
            <a:ext cx="5219999" cy="177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555600"/>
            <a:ext cx="5512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Trebuchet MS"/>
                <a:ea typeface="Trebuchet MS"/>
                <a:cs typeface="Trebuchet MS"/>
                <a:sym typeface="Trebuchet MS"/>
              </a:rPr>
              <a:t>Challenges in Media Capture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416375" y="1374650"/>
            <a:ext cx="3097500" cy="3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Optimizing Media Capture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Challenges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Delays in communication between devices.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Processing limitations on wearables.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Solutions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Preprocess media on the paired iPhone.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Use lightweight image formats for faster display.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8" name="Google Shape;128;p23"/>
          <p:cNvSpPr txBox="1"/>
          <p:nvPr>
            <p:ph type="title"/>
          </p:nvPr>
        </p:nvSpPr>
        <p:spPr>
          <a:xfrm>
            <a:off x="8359075" y="97150"/>
            <a:ext cx="732600" cy="3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s" sz="1200">
                <a:latin typeface="Trebuchet MS"/>
                <a:ea typeface="Trebuchet MS"/>
                <a:cs typeface="Trebuchet MS"/>
                <a:sym typeface="Trebuchet MS"/>
              </a:rPr>
              <a:t>Cass 1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555600"/>
            <a:ext cx="5512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Trebuchet MS"/>
                <a:ea typeface="Trebuchet MS"/>
                <a:cs typeface="Trebuchet MS"/>
                <a:sym typeface="Trebuchet MS"/>
              </a:rPr>
              <a:t>Class 3: Monitoring Health Data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416375" y="1374650"/>
            <a:ext cx="3097500" cy="3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1"/>
                </a:solidFill>
              </a:rPr>
              <a:t>What is HealthKit?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Title</a:t>
            </a:r>
            <a:r>
              <a:rPr lang="es" sz="1100">
                <a:solidFill>
                  <a:schemeClr val="dk1"/>
                </a:solidFill>
              </a:rPr>
              <a:t>: Accessing Health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Overview</a:t>
            </a:r>
            <a:r>
              <a:rPr lang="es" sz="1100">
                <a:solidFill>
                  <a:schemeClr val="dk1"/>
                </a:solidFill>
              </a:rPr>
              <a:t>: HealthKit is a framework that enables apps to read and write health metrics.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Metrics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Heart rate.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Steps and calories burned.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Sleep and activity patterns.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5" name="Google Shape;135;p24"/>
          <p:cNvSpPr txBox="1"/>
          <p:nvPr>
            <p:ph type="title"/>
          </p:nvPr>
        </p:nvSpPr>
        <p:spPr>
          <a:xfrm>
            <a:off x="8359075" y="97150"/>
            <a:ext cx="732600" cy="3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s" sz="1200">
                <a:latin typeface="Trebuchet MS"/>
                <a:ea typeface="Trebuchet MS"/>
                <a:cs typeface="Trebuchet MS"/>
                <a:sym typeface="Trebuchet MS"/>
              </a:rPr>
              <a:t>Cass 1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555600"/>
            <a:ext cx="5512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Trebuchet MS"/>
                <a:ea typeface="Trebuchet MS"/>
                <a:cs typeface="Trebuchet MS"/>
                <a:sym typeface="Trebuchet MS"/>
              </a:rPr>
              <a:t>Real-Time Monitoring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416375" y="1374650"/>
            <a:ext cx="3097500" cy="3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Using HealthKit for Live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Features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Access live heart rate during a workout.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Track progress toward fitness goals in real time.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Code Example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42" name="Google Shape;142;p25"/>
          <p:cNvSpPr txBox="1"/>
          <p:nvPr>
            <p:ph type="title"/>
          </p:nvPr>
        </p:nvSpPr>
        <p:spPr>
          <a:xfrm>
            <a:off x="8359075" y="97150"/>
            <a:ext cx="732600" cy="3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s" sz="1200">
                <a:latin typeface="Trebuchet MS"/>
                <a:ea typeface="Trebuchet MS"/>
                <a:cs typeface="Trebuchet MS"/>
                <a:sym typeface="Trebuchet MS"/>
              </a:rPr>
              <a:t>Cass 1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0000" y="1440000"/>
            <a:ext cx="5219999" cy="187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555600"/>
            <a:ext cx="5512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Trebuchet MS"/>
                <a:ea typeface="Trebuchet MS"/>
                <a:cs typeface="Trebuchet MS"/>
                <a:sym typeface="Trebuchet MS"/>
              </a:rPr>
              <a:t>Real-Time Monitoring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416375" y="1374650"/>
            <a:ext cx="3097500" cy="3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Using HealthKit for Live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Features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Access live heart rate during a workout.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Track progress toward fitness goals in real time.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Code Example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50" name="Google Shape;150;p26"/>
          <p:cNvSpPr txBox="1"/>
          <p:nvPr>
            <p:ph type="title"/>
          </p:nvPr>
        </p:nvSpPr>
        <p:spPr>
          <a:xfrm>
            <a:off x="8359075" y="97150"/>
            <a:ext cx="732600" cy="3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s" sz="1200">
                <a:latin typeface="Trebuchet MS"/>
                <a:ea typeface="Trebuchet MS"/>
                <a:cs typeface="Trebuchet MS"/>
                <a:sym typeface="Trebuchet MS"/>
              </a:rPr>
              <a:t>Cass 1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1" name="Google Shape;15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0000" y="1440000"/>
            <a:ext cx="5219999" cy="187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00" y="555600"/>
            <a:ext cx="5512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Trebuchet MS"/>
                <a:ea typeface="Trebuchet MS"/>
                <a:cs typeface="Trebuchet MS"/>
                <a:sym typeface="Trebuchet MS"/>
              </a:rPr>
              <a:t>Challenges in Health Monitoring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416375" y="1374650"/>
            <a:ext cx="3097500" cy="3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Managing Real-Time Health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Challenges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Handling large data streams efficiently.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Avoiding unnecessary UI updates.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Solutions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Use batching for data updates.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Notify users only when metrics deviate significantly.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8" name="Google Shape;158;p27"/>
          <p:cNvSpPr txBox="1"/>
          <p:nvPr>
            <p:ph type="title"/>
          </p:nvPr>
        </p:nvSpPr>
        <p:spPr>
          <a:xfrm>
            <a:off x="8359075" y="97150"/>
            <a:ext cx="732600" cy="3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s" sz="1200">
                <a:latin typeface="Trebuchet MS"/>
                <a:ea typeface="Trebuchet MS"/>
                <a:cs typeface="Trebuchet MS"/>
                <a:sym typeface="Trebuchet MS"/>
              </a:rPr>
              <a:t>Cass 1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11700" y="555600"/>
            <a:ext cx="5512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Trebuchet MS"/>
                <a:ea typeface="Trebuchet MS"/>
                <a:cs typeface="Trebuchet MS"/>
                <a:sym typeface="Trebuchet MS"/>
              </a:rPr>
              <a:t>Class 4: Notifications and Feedback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416375" y="1374650"/>
            <a:ext cx="3097500" cy="3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00">
                <a:solidFill>
                  <a:schemeClr val="dk1"/>
                </a:solidFill>
              </a:rPr>
              <a:t>Contextual Notifications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Enhancing Engagement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What Are Contextual Notifications?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Notifications based on user actions or events.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Example: Alerting users when they hit a fitness milestone.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Code Example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5" name="Google Shape;165;p28"/>
          <p:cNvSpPr txBox="1"/>
          <p:nvPr>
            <p:ph type="title"/>
          </p:nvPr>
        </p:nvSpPr>
        <p:spPr>
          <a:xfrm>
            <a:off x="8359075" y="97150"/>
            <a:ext cx="732600" cy="3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s" sz="1200">
                <a:latin typeface="Trebuchet MS"/>
                <a:ea typeface="Trebuchet MS"/>
                <a:cs typeface="Trebuchet MS"/>
                <a:sym typeface="Trebuchet MS"/>
              </a:rPr>
              <a:t>Cass 1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6" name="Google Shape;16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0" y="1440000"/>
            <a:ext cx="5040000" cy="24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555600"/>
            <a:ext cx="5512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Trebuchet MS"/>
                <a:ea typeface="Trebuchet MS"/>
                <a:cs typeface="Trebuchet MS"/>
                <a:sym typeface="Trebuchet MS"/>
              </a:rPr>
              <a:t>Real-Time Feedback Loops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416375" y="1374650"/>
            <a:ext cx="3097500" cy="3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Engaging Users with Feedback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Feedback Types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Haptic feedback (vibrations).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Visual cues (animations).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Sound alerts.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Examples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Vibrating when heart rate exceeds a safe limit.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Playing a sound when a workout goal is achieved.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73" name="Google Shape;173;p29"/>
          <p:cNvSpPr txBox="1"/>
          <p:nvPr>
            <p:ph type="title"/>
          </p:nvPr>
        </p:nvSpPr>
        <p:spPr>
          <a:xfrm>
            <a:off x="8359075" y="97150"/>
            <a:ext cx="732600" cy="3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s" sz="1200">
                <a:latin typeface="Trebuchet MS"/>
                <a:ea typeface="Trebuchet MS"/>
                <a:cs typeface="Trebuchet MS"/>
                <a:sym typeface="Trebuchet MS"/>
              </a:rPr>
              <a:t>Cass 1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311700" y="555600"/>
            <a:ext cx="5512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Trebuchet MS"/>
                <a:ea typeface="Trebuchet MS"/>
                <a:cs typeface="Trebuchet MS"/>
                <a:sym typeface="Trebuchet MS"/>
              </a:rPr>
              <a:t>Sensor Data Synchronization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416375" y="1374650"/>
            <a:ext cx="3097500" cy="3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Processing and Syncing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Key Techniques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Batch processing to save power.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Synchronize with iPhone for complex computations.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Real-Life Example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</a:rPr>
              <a:t>A fitness app processes step counts locally and syncs calorie burn data with the iPhone.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0" name="Google Shape;180;p30"/>
          <p:cNvSpPr txBox="1"/>
          <p:nvPr>
            <p:ph type="title"/>
          </p:nvPr>
        </p:nvSpPr>
        <p:spPr>
          <a:xfrm>
            <a:off x="8359075" y="97150"/>
            <a:ext cx="732600" cy="3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s" sz="1200">
                <a:latin typeface="Trebuchet MS"/>
                <a:ea typeface="Trebuchet MS"/>
                <a:cs typeface="Trebuchet MS"/>
                <a:sym typeface="Trebuchet MS"/>
              </a:rPr>
              <a:t>Cass 1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311700" y="555600"/>
            <a:ext cx="5512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Trebuchet MS"/>
                <a:ea typeface="Trebuchet MS"/>
                <a:cs typeface="Trebuchet MS"/>
                <a:sym typeface="Trebuchet MS"/>
              </a:rPr>
              <a:t>Summary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416375" y="1374650"/>
            <a:ext cx="3097500" cy="3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Key Takeaways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" sz="1100">
                <a:solidFill>
                  <a:schemeClr val="dk1"/>
                </a:solidFill>
              </a:rPr>
              <a:t>Mastered advanced movement tracking using Core Motion.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" sz="1100">
                <a:solidFill>
                  <a:schemeClr val="dk1"/>
                </a:solidFill>
              </a:rPr>
              <a:t>Built skills in capturing and managing media.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" sz="1100">
                <a:solidFill>
                  <a:schemeClr val="dk1"/>
                </a:solidFill>
              </a:rPr>
              <a:t>Monitored real-time health metrics with HealthKit.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" sz="1100">
                <a:solidFill>
                  <a:schemeClr val="dk1"/>
                </a:solidFill>
              </a:rPr>
              <a:t>Enhanced user interaction with notifications and feedback.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" sz="1100">
                <a:solidFill>
                  <a:schemeClr val="dk1"/>
                </a:solidFill>
              </a:rPr>
              <a:t>Optimized wearable applications for power efficiency.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7" name="Google Shape;187;p31"/>
          <p:cNvSpPr txBox="1"/>
          <p:nvPr>
            <p:ph type="title"/>
          </p:nvPr>
        </p:nvSpPr>
        <p:spPr>
          <a:xfrm>
            <a:off x="8359075" y="97150"/>
            <a:ext cx="732600" cy="3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s" sz="1200">
                <a:latin typeface="Trebuchet MS"/>
                <a:ea typeface="Trebuchet MS"/>
                <a:cs typeface="Trebuchet MS"/>
                <a:sym typeface="Trebuchet MS"/>
              </a:rPr>
              <a:t>Cass 1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title"/>
          </p:nvPr>
        </p:nvSpPr>
        <p:spPr>
          <a:xfrm>
            <a:off x="401400" y="958100"/>
            <a:ext cx="3471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References</a:t>
            </a:r>
            <a:endParaRPr/>
          </a:p>
        </p:txBody>
      </p:sp>
      <p:sp>
        <p:nvSpPr>
          <p:cNvPr id="193" name="Google Shape;193;p32"/>
          <p:cNvSpPr txBox="1"/>
          <p:nvPr>
            <p:ph idx="1" type="body"/>
          </p:nvPr>
        </p:nvSpPr>
        <p:spPr>
          <a:xfrm>
            <a:off x="4572000" y="1070250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