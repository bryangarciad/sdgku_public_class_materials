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 r:id="rId5"/>
    <p:sldId id="2561" r:id="rId6"/>
    <p:sldId id="2562" r:id="rId7"/>
    <p:sldId id="2563" r:id="rId8"/>
    <p:sldId id="2564" r:id="rId9"/>
    <p:sldId id="261" r:id="rId10"/>
    <p:sldId id="2571" r:id="rId11"/>
    <p:sldId id="2572" r:id="rId12"/>
    <p:sldId id="2574" r:id="rId13"/>
    <p:sldId id="2565" r:id="rId14"/>
    <p:sldId id="2566" r:id="rId15"/>
    <p:sldId id="2573" r:id="rId16"/>
    <p:sldId id="2567" r:id="rId17"/>
    <p:sldId id="2568" r:id="rId18"/>
    <p:sldId id="25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wift Wearables Class: Core Motion" id="{8BB4C5BE-EABD-4F16-B3A5-09F1A57F430C}">
          <p14:sldIdLst>
            <p14:sldId id="256"/>
            <p14:sldId id="2561"/>
          </p14:sldIdLst>
        </p14:section>
        <p14:section name="Core Motion Basics" id="{263F7CC9-7039-4F0E-9AEF-B0355714B78E}">
          <p14:sldIdLst>
            <p14:sldId id="2562"/>
            <p14:sldId id="2563"/>
            <p14:sldId id="2564"/>
            <p14:sldId id="261"/>
            <p14:sldId id="2571"/>
            <p14:sldId id="2572"/>
            <p14:sldId id="2574"/>
          </p14:sldIdLst>
        </p14:section>
        <p14:section name="Advanced Motion Handling" id="{160C644E-C97C-48FB-9247-EAFC6658ABEB}">
          <p14:sldIdLst>
            <p14:sldId id="2565"/>
            <p14:sldId id="2566"/>
            <p14:sldId id="2573"/>
          </p14:sldIdLst>
        </p14:section>
        <p14:section name="Mini Project: Motion Tracker App" id="{520FED8A-FFB9-4C94-AF91-C990B72C5DF0}">
          <p14:sldIdLst>
            <p14:sldId id="2567"/>
            <p14:sldId id="2568"/>
          </p14:sldIdLst>
        </p14:section>
        <p14:section name="Wrap-Up and Homework" id="{40937C3A-6ACB-4872-A201-719DCF7B97A7}">
          <p14:sldIdLst>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21" autoAdjust="0"/>
    <p:restoredTop sz="94719"/>
  </p:normalViewPr>
  <p:slideViewPr>
    <p:cSldViewPr>
      <p:cViewPr varScale="1">
        <p:scale>
          <a:sx n="138" d="100"/>
          <a:sy n="138" d="100"/>
        </p:scale>
        <p:origin x="592" y="4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C3139-0FB7-4F3A-9641-32ABD25B88C0}" type="datetimeFigureOut">
              <a:t>22/10/25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44921-C477-4001-912E-E31C813C1859}" type="slidenum">
              <a:t>‹#›</a:t>
            </a:fld>
            <a:endParaRPr lang="en-US"/>
          </a:p>
        </p:txBody>
      </p:sp>
    </p:spTree>
    <p:extLst>
      <p:ext uri="{BB962C8B-B14F-4D97-AF65-F5344CB8AC3E}">
        <p14:creationId xmlns:p14="http://schemas.microsoft.com/office/powerpoint/2010/main" val="363497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29D9C15-1BE4-4C18-9FC2-CCBABE3E9557}" type="slidenum">
              <a:t>2</a:t>
            </a:fld>
            <a:endParaRPr lang="en-US"/>
          </a:p>
        </p:txBody>
      </p:sp>
    </p:spTree>
    <p:extLst>
      <p:ext uri="{BB962C8B-B14F-4D97-AF65-F5344CB8AC3E}">
        <p14:creationId xmlns:p14="http://schemas.microsoft.com/office/powerpoint/2010/main" val="65446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Core Motion and Sensor Types, Hands-On Setup with CMMotionManager</a:t>
            </a:r>
          </a:p>
        </p:txBody>
      </p:sp>
      <p:sp>
        <p:nvSpPr>
          <p:cNvPr id="4" name="Slide Number Placeholder 3"/>
          <p:cNvSpPr>
            <a:spLocks noGrp="1"/>
          </p:cNvSpPr>
          <p:nvPr>
            <p:ph type="sldNum" sz="quarter" idx="5"/>
          </p:nvPr>
        </p:nvSpPr>
        <p:spPr/>
        <p:txBody>
          <a:bodyPr/>
          <a:lstStyle/>
          <a:p>
            <a:fld id="{229D9C15-1BE4-4C18-9FC2-CCBABE3E9557}" type="slidenum">
              <a:t>3</a:t>
            </a:fld>
            <a:endParaRPr lang="en-US"/>
          </a:p>
        </p:txBody>
      </p:sp>
    </p:spTree>
    <p:extLst>
      <p:ext uri="{BB962C8B-B14F-4D97-AF65-F5344CB8AC3E}">
        <p14:creationId xmlns:p14="http://schemas.microsoft.com/office/powerpoint/2010/main" val="1106660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Core Motion is a powerful framework in iOS and watchOS that allows developers to access motion-related data from device sensors. It supports various types of motion data including accelerometer, gyroscope, magnetometer, and device motion, which is a fusion of multiple sensors to provide a comprehensive view of the device's movement and orientation. The accelerometer measures linear acceleration, the gyroscope captures rotational velocity, and the magnetometer detects magnetic fields to determine heading. Device motion combines these inputs to provide data such as attitude, rotation rate, and gravity vector. Understanding these sensors is crucial for building responsive and context-aware applications on Apple Watch. Additionally, developers must consider the differences between iPhone and Apple Watch capabilities, especially in terms of sensor availability and battery constraints. Sampling rates and data accuracy can vary, and efficient handling of motion updates is essential to preserve battery life while maintaining app performance.</a:t>
            </a:r>
          </a:p>
        </p:txBody>
      </p:sp>
      <p:sp>
        <p:nvSpPr>
          <p:cNvPr id="4" name="Slide Number Placeholder 3"/>
          <p:cNvSpPr>
            <a:spLocks noGrp="1"/>
          </p:cNvSpPr>
          <p:nvPr>
            <p:ph type="sldNum" sz="quarter" idx="5"/>
          </p:nvPr>
        </p:nvSpPr>
        <p:spPr/>
        <p:txBody>
          <a:bodyPr/>
          <a:lstStyle/>
          <a:p>
            <a:fld id="{229D9C15-1BE4-4C18-9FC2-CCBABE3E9557}" type="slidenum">
              <a:t>4</a:t>
            </a:fld>
            <a:endParaRPr lang="en-US"/>
          </a:p>
        </p:txBody>
      </p:sp>
    </p:spTree>
    <p:extLst>
      <p:ext uri="{BB962C8B-B14F-4D97-AF65-F5344CB8AC3E}">
        <p14:creationId xmlns:p14="http://schemas.microsoft.com/office/powerpoint/2010/main" val="1236068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hands-on segment, students will create a new watchOS app using Xcode and integrate Core Motion by setting up the CMMotionManager. This class provides access to accelerometer, gyroscope, and device motion data. Students will initialize CMMotionManager, configure update intervals, and start accelerometer updates using the method startAccelerometerUpdates(to:withHandler:). They will print the x, y, and z acceleration values to the console to observe real-time data. This exercise introduces the concept of motion data streaming and lays the foundation for more advanced motion handling. A deep dive into the differences between CMMotionManager and CMPedometer will help students understand when to use each class. While CMMotionManager offers raw sensor data, CMPedometer provides higher-level information such as step counts and distance traveled, making it suitable for fitness and activity tracking apps.</a:t>
            </a:r>
          </a:p>
        </p:txBody>
      </p:sp>
      <p:sp>
        <p:nvSpPr>
          <p:cNvPr id="4" name="Slide Number Placeholder 3"/>
          <p:cNvSpPr>
            <a:spLocks noGrp="1"/>
          </p:cNvSpPr>
          <p:nvPr>
            <p:ph type="sldNum" sz="quarter" idx="5"/>
          </p:nvPr>
        </p:nvSpPr>
        <p:spPr/>
        <p:txBody>
          <a:bodyPr/>
          <a:lstStyle/>
          <a:p>
            <a:fld id="{229D9C15-1BE4-4C18-9FC2-CCBABE3E9557}" type="slidenum">
              <a:t>5</a:t>
            </a:fld>
            <a:endParaRPr lang="en-US"/>
          </a:p>
        </p:txBody>
      </p:sp>
    </p:spTree>
    <p:extLst>
      <p:ext uri="{BB962C8B-B14F-4D97-AF65-F5344CB8AC3E}">
        <p14:creationId xmlns:p14="http://schemas.microsoft.com/office/powerpoint/2010/main" val="1984175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1b9e6bbe58_2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1b9e6bbe58_2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Motion data from sensors can be noisy, especially when the device is subject to small vibrations or rapid movements. To improve stability and accuracy, developers often apply filtering techniques such as low-pass filters. A common formula for low-pass filtering is: filteredX = alpha * currentX + (1 - alpha) * previousX, where alpha is a smoothing factor typically between 0.1 and 0.5. This approach reduces the impact of sudden spikes and provides a smoother signal for visualization or gesture detection. Filtering is particularly useful when displaying motion data on the UI or when detecting subtle gestures that require consistent input. Implementing filters helps create more reliable and user-friendly motion-based applications.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689449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Using CMPedometer and CMDeviceMotion</a:t>
            </a:r>
          </a:p>
        </p:txBody>
      </p:sp>
      <p:sp>
        <p:nvSpPr>
          <p:cNvPr id="4" name="Slide Number Placeholder 3"/>
          <p:cNvSpPr>
            <a:spLocks noGrp="1"/>
          </p:cNvSpPr>
          <p:nvPr>
            <p:ph type="sldNum" sz="quarter" idx="5"/>
          </p:nvPr>
        </p:nvSpPr>
        <p:spPr/>
        <p:txBody>
          <a:bodyPr/>
          <a:lstStyle/>
          <a:p>
            <a:fld id="{229D9C15-1BE4-4C18-9FC2-CCBABE3E9557}" type="slidenum">
              <a:t>10</a:t>
            </a:fld>
            <a:endParaRPr lang="en-US"/>
          </a:p>
        </p:txBody>
      </p:sp>
    </p:spTree>
    <p:extLst>
      <p:ext uri="{BB962C8B-B14F-4D97-AF65-F5344CB8AC3E}">
        <p14:creationId xmlns:p14="http://schemas.microsoft.com/office/powerpoint/2010/main" val="887765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CMPedometer is a high-level API in Core Motion that simplifies the process of tracking steps, distance, and cadence. It is particularly useful for fitness applications and is optimized for energy efficiency. CMDeviceMotion, on the other hand, provides detailed information about the device’s orientation and movement by combining data from multiple sensors. It includes properties such as attitude, rotation rate, gravity, and user acceleration. In this segment, students will learn how to access and interpret CMDeviceMotion data to understand the device’s orientation in space. They will also explore how to handle motion updates efficiently by managing update intervals and using background threads to process data. Visualization techniques will be introduced, allowing students to display motion data in real-time on the Apple Watch interface. This includes updating labels with x, y, z values and showing pitch, roll, and yaw. The session will also cover motion data filtering techniques, such as low-pass filters, to smooth out noisy data and improve accuracy. Event thresholds will be discussed to help students detect specific motion patterns like shakes or falls.</a:t>
            </a:r>
          </a:p>
        </p:txBody>
      </p:sp>
      <p:sp>
        <p:nvSpPr>
          <p:cNvPr id="4" name="Slide Number Placeholder 3"/>
          <p:cNvSpPr>
            <a:spLocks noGrp="1"/>
          </p:cNvSpPr>
          <p:nvPr>
            <p:ph type="sldNum" sz="quarter" idx="5"/>
          </p:nvPr>
        </p:nvSpPr>
        <p:spPr/>
        <p:txBody>
          <a:bodyPr/>
          <a:lstStyle/>
          <a:p>
            <a:fld id="{229D9C15-1BE4-4C18-9FC2-CCBABE3E9557}" type="slidenum">
              <a:t>11</a:t>
            </a:fld>
            <a:endParaRPr lang="en-US"/>
          </a:p>
        </p:txBody>
      </p:sp>
    </p:spTree>
    <p:extLst>
      <p:ext uri="{BB962C8B-B14F-4D97-AF65-F5344CB8AC3E}">
        <p14:creationId xmlns:p14="http://schemas.microsoft.com/office/powerpoint/2010/main" val="927820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the Motion Tracker App</a:t>
            </a:r>
          </a:p>
        </p:txBody>
      </p:sp>
      <p:sp>
        <p:nvSpPr>
          <p:cNvPr id="4" name="Slide Number Placeholder 3"/>
          <p:cNvSpPr>
            <a:spLocks noGrp="1"/>
          </p:cNvSpPr>
          <p:nvPr>
            <p:ph type="sldNum" sz="quarter" idx="5"/>
          </p:nvPr>
        </p:nvSpPr>
        <p:spPr/>
        <p:txBody>
          <a:bodyPr/>
          <a:lstStyle/>
          <a:p>
            <a:fld id="{229D9C15-1BE4-4C18-9FC2-CCBABE3E9557}" type="slidenum">
              <a:t>13</a:t>
            </a:fld>
            <a:endParaRPr lang="en-US"/>
          </a:p>
        </p:txBody>
      </p:sp>
    </p:spTree>
    <p:extLst>
      <p:ext uri="{BB962C8B-B14F-4D97-AF65-F5344CB8AC3E}">
        <p14:creationId xmlns:p14="http://schemas.microsoft.com/office/powerpoint/2010/main" val="1715827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mini project involves building a Motion Tracker app for Apple Watch that utilizes Core Motion to monitor user activity. The app will track steps using CMPedometer and detect sudden movements such as shakes or jumps using accelerometer data. Students will implement a start/stop tracking button to control data collection and display live motion data on the watch screen. The app will include a summary screen that shows total steps, maximum acceleration detected, and the duration of the tracking session. This project reinforces the concepts learned in the previous segments and provides practical experience in integrating multiple Core Motion features. Stretch goals will be introduced for advanced students, including saving session data locally using Core Data or UserDefaults, adding haptic feedback when a shake is detected, and displaying a graph of motion intensity over time. These enhancements encourage students to think creatively and explore additional watchOS capabilities. The project will be completed during the final hour of the class, with guidance and support from the instructor.</a:t>
            </a:r>
          </a:p>
        </p:txBody>
      </p:sp>
      <p:sp>
        <p:nvSpPr>
          <p:cNvPr id="4" name="Slide Number Placeholder 3"/>
          <p:cNvSpPr>
            <a:spLocks noGrp="1"/>
          </p:cNvSpPr>
          <p:nvPr>
            <p:ph type="sldNum" sz="quarter" idx="5"/>
          </p:nvPr>
        </p:nvSpPr>
        <p:spPr/>
        <p:txBody>
          <a:bodyPr/>
          <a:lstStyle/>
          <a:p>
            <a:fld id="{229D9C15-1BE4-4C18-9FC2-CCBABE3E9557}" type="slidenum">
              <a:t>14</a:t>
            </a:fld>
            <a:endParaRPr lang="en-US"/>
          </a:p>
        </p:txBody>
      </p:sp>
    </p:spTree>
    <p:extLst>
      <p:ext uri="{BB962C8B-B14F-4D97-AF65-F5344CB8AC3E}">
        <p14:creationId xmlns:p14="http://schemas.microsoft.com/office/powerpoint/2010/main" val="3194395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and Next Steps</a:t>
            </a:r>
          </a:p>
        </p:txBody>
      </p:sp>
      <p:sp>
        <p:nvSpPr>
          <p:cNvPr id="4" name="Slide Number Placeholder 3"/>
          <p:cNvSpPr>
            <a:spLocks noGrp="1"/>
          </p:cNvSpPr>
          <p:nvPr>
            <p:ph type="sldNum" sz="quarter" idx="5"/>
          </p:nvPr>
        </p:nvSpPr>
        <p:spPr/>
        <p:txBody>
          <a:bodyPr/>
          <a:lstStyle/>
          <a:p>
            <a:fld id="{229D9C15-1BE4-4C18-9FC2-CCBABE3E9557}" type="slidenum">
              <a:t>15</a:t>
            </a:fld>
            <a:endParaRPr lang="en-US"/>
          </a:p>
        </p:txBody>
      </p:sp>
    </p:spTree>
    <p:extLst>
      <p:ext uri="{BB962C8B-B14F-4D97-AF65-F5344CB8AC3E}">
        <p14:creationId xmlns:p14="http://schemas.microsoft.com/office/powerpoint/2010/main" val="27324040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778BA358-D7E7-499C-84B9-AC14A66ED1A6}"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9668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EE918161-410C-495B-9D82-18B01714F0C3}"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532166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9EB9C8E0-F2E5-48F5-AA1A-981B30EA19E2}"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3033818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829B12D8-BAC5-43A1-A3F4-51BF1A7E7117}"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6883007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170987F-8E30-461F-9E4C-7F5E2EE91FF0}"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12781841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D520D0B-46AC-4382-A6D6-2E63B78F1E03}" type="datetime1">
              <a:rPr lang="en-US" smtClean="0"/>
              <a:t>10/22/25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8842066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10/22/25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10/22/25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10/22/25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5CAA6AFE-5243-4B4E-B26C-A6689C02EC29}" type="datetime1">
              <a:rPr lang="en-US" smtClean="0"/>
              <a:t>10/22/25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6107544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9BC84D-3F39-4027-A7D7-7B3951112F59}"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37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DA91AB-22B6-4C8F-9120-C6CEAE2E6D6E}"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14577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2A8D00A-7D56-4264-9287-3F8AAF130D23}"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907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14BC2DE8-147F-4C22-A99D-4EAEB6D0A374}"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4918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36362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0FFB8A6-6C87-4FAE-893A-7B00285062B3}"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313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98384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DF254B70-5EAB-445B-A3CD-C14D0B8ACD0C}"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7644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217BF59-E0D5-409C-8A6B-0F803A4B6315}"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86865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6AC6ED7C-CAEB-4C33-83BF-788B8A76A11C}"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9292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143775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7A7F542-C964-486E-82FB-259D80A22E0C}"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75268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79A6D22-E558-45A5-AFFE-4CB08C13E909}"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12396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54360EB-95BF-4987-BAEE-E7CA2491C2B2}"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95721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3936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4B2A89B-6654-46B7-8BAD-422EA50F4994}"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5143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A882899-F271-47EA-805D-B8A33B6837B1}"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71167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10/22/25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950FD3-961F-4360-ADC7-0E23C6F50835}" type="datetime1">
              <a:rPr lang="en-US" smtClean="0"/>
              <a:t>10/22/25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38315228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0A28C6D7-91AB-4E5C-91FE-81F7E83AF2F7}" type="datetime1">
              <a:rPr lang="en-US" smtClean="0"/>
              <a:t>10/22/25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160064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DFF620F-79DC-465D-A792-79BFC5D42082}" type="datetime1">
              <a:rPr lang="en-US" smtClean="0"/>
              <a:t>10/22/25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157970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D30CB8E-A3C7-445E-9FD2-AB4831E86419}" type="datetime1">
              <a:rPr lang="en-US" smtClean="0"/>
              <a:t>10/22/25</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827962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10/22/25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A76414A-368B-4652-A82D-EB6803F5CA88}" type="datetime1">
              <a:rPr lang="en-US" smtClean="0"/>
              <a:t>10/22/25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88323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91DBFD5-B703-412C-946A-2366F0A22D6B}" type="datetime1">
              <a:rPr lang="en-US" smtClean="0"/>
              <a:t>10/22/25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37368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68854924-AD04-46C8-8FD0-32E5D79D9633}" type="datetime1">
              <a:rPr lang="en-US" smtClean="0"/>
              <a:t>10/22/25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355124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45E2037-E423-4692-A686-AD13A31B3254}" type="datetime1">
              <a:rPr lang="en-US" smtClean="0"/>
              <a:t>10/22/25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7082767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10/22/25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3F82639A-C38B-4DC4-A89D-3A41E7A79ECD}" type="datetime1">
              <a:rPr lang="en-US" smtClean="0"/>
              <a:t>10/22/25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04065477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5CB1CF8-32E9-4DB7-83A6-BE10A0AD5321}" type="datetime1">
              <a:rPr lang="en-US" smtClean="0"/>
              <a:t>10/22/25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4766755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D4283D50-03BE-4B63-B394-3AFFE93B94AD}" type="datetime1">
              <a:rPr lang="en-US" smtClean="0"/>
              <a:t>10/22/25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89328850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07DA69C6-AB86-4555-AFCA-374D463A1405}" type="datetime1">
              <a:rPr lang="en-US" smtClean="0"/>
              <a:t>10/22/25</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319052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10/22/25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10/22/25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10/22/25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46851F7-84B8-47C4-B767-E94FA9BAA188}" type="datetime1">
              <a:rPr lang="en-US" smtClean="0"/>
              <a:t>10/22/25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319751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482DE2-0335-4BF2-A8F9-5A9E4F82FC09}" type="datetime1">
              <a:rPr lang="en-US" smtClean="0"/>
              <a:t>10/22/25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27800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842EC803-812E-4F8B-A77B-00A746763209}" type="datetime1">
              <a:rPr lang="en-US" smtClean="0"/>
              <a:t>10/22/25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5046856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10/22/25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 smtClean="0"/>
              <a:pPr/>
              <a:t>‹#›</a:t>
            </a:fld>
            <a:endParaRPr lang="es"/>
          </a:p>
        </p:txBody>
      </p:sp>
    </p:spTree>
    <p:extLst>
      <p:ext uri="{BB962C8B-B14F-4D97-AF65-F5344CB8AC3E}">
        <p14:creationId xmlns:p14="http://schemas.microsoft.com/office/powerpoint/2010/main" val="173147985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10/22/25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2915580" y="1089247"/>
            <a:ext cx="6360840" cy="2171716"/>
          </a:xfrm>
        </p:spPr>
        <p:txBody>
          <a:bodyPr spcFirstLastPara="1" vert="horz" lIns="121900" tIns="121900" rIns="121900" bIns="121900" rtlCol="0" anchor="b" anchorCtr="0">
            <a:normAutofit/>
          </a:bodyPr>
          <a:lstStyle/>
          <a:p>
            <a:pPr>
              <a:spcBef>
                <a:spcPts val="0"/>
              </a:spcBef>
              <a:buSzPts val="990"/>
            </a:pPr>
            <a:r>
              <a:rPr lang="en-US" sz="3400"/>
              <a:t>MDI1 113: MOBILE APPLICATIONS FOR WEARABLES -</a:t>
            </a:r>
          </a:p>
          <a:p>
            <a:pPr>
              <a:spcBef>
                <a:spcPts val="0"/>
              </a:spcBef>
              <a:buSzPts val="990"/>
            </a:pPr>
            <a:r>
              <a:rPr lang="en-US" sz="3400"/>
              <a:t>INTERMEDIATE</a:t>
            </a:r>
          </a:p>
        </p:txBody>
      </p:sp>
      <p:pic>
        <p:nvPicPr>
          <p:cNvPr id="55" name="Google Shape;55;p13"/>
          <p:cNvPicPr preferRelativeResize="0"/>
          <p:nvPr/>
        </p:nvPicPr>
        <p:blipFill>
          <a:blip r:embed="rId3"/>
          <a:srcRect r="23666" b="1"/>
          <a:stretch>
            <a:fillRect/>
          </a:stretch>
        </p:blipFill>
        <p:spPr>
          <a:xfrm>
            <a:off x="3322864" y="3499880"/>
            <a:ext cx="5543550" cy="1771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BD3E-64E8-E8A2-C85E-0398079F223E}"/>
              </a:ext>
            </a:extLst>
          </p:cNvPr>
          <p:cNvSpPr>
            <a:spLocks noGrp="1"/>
          </p:cNvSpPr>
          <p:nvPr>
            <p:ph type="ctrTitle"/>
          </p:nvPr>
        </p:nvSpPr>
        <p:spPr/>
        <p:txBody>
          <a:bodyPr anchor="t">
            <a:normAutofit/>
          </a:bodyPr>
          <a:lstStyle/>
          <a:p>
            <a:r>
              <a:rPr lang="en-US"/>
              <a:t>Swift Wearables Class: Core Motion</a:t>
            </a:r>
          </a:p>
        </p:txBody>
      </p:sp>
      <p:sp>
        <p:nvSpPr>
          <p:cNvPr id="3" name="Subtitle 2">
            <a:extLst>
              <a:ext uri="{FF2B5EF4-FFF2-40B4-BE49-F238E27FC236}">
                <a16:creationId xmlns:a16="http://schemas.microsoft.com/office/drawing/2014/main" id="{288BF982-EFD3-2B68-E45B-9ED7ABB262D4}"/>
              </a:ext>
            </a:extLst>
          </p:cNvPr>
          <p:cNvSpPr>
            <a:spLocks noGrp="1"/>
          </p:cNvSpPr>
          <p:nvPr>
            <p:ph type="subTitle" idx="1"/>
          </p:nvPr>
        </p:nvSpPr>
        <p:spPr/>
        <p:txBody>
          <a:bodyPr anchor="b">
            <a:normAutofit/>
          </a:bodyPr>
          <a:lstStyle/>
          <a:p>
            <a:r>
              <a:rPr lang="en-US"/>
              <a:t>Understanding motion data for wearable app development</a:t>
            </a:r>
          </a:p>
        </p:txBody>
      </p:sp>
      <p:pic>
        <p:nvPicPr>
          <p:cNvPr id="4" name="Picture 3" descr="Smart watch with app used to control washing machines">
            <a:extLst>
              <a:ext uri="{FF2B5EF4-FFF2-40B4-BE49-F238E27FC236}">
                <a16:creationId xmlns:a16="http://schemas.microsoft.com/office/drawing/2014/main" id="{D7CABB21-74F9-47A1-8617-1BB481F62501}"/>
              </a:ext>
            </a:extLst>
          </p:cNvPr>
          <p:cNvPicPr>
            <a:picLocks noChangeAspect="1"/>
          </p:cNvPicPr>
          <p:nvPr/>
        </p:nvPicPr>
        <p:blipFill>
          <a:blip r:embed="rId3"/>
          <a:srcRect b="15730"/>
          <a:stretch>
            <a:fillRect/>
          </a:stretch>
        </p:blipFill>
        <p:spPr>
          <a:xfrm>
            <a:off x="20" y="10"/>
            <a:ext cx="12191980" cy="685799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noFill/>
        </p:spPr>
      </p:pic>
    </p:spTree>
    <p:extLst>
      <p:ext uri="{BB962C8B-B14F-4D97-AF65-F5344CB8AC3E}">
        <p14:creationId xmlns:p14="http://schemas.microsoft.com/office/powerpoint/2010/main" val="123365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9F370-EF49-5EDD-6702-697D8DB0684E}"/>
              </a:ext>
            </a:extLst>
          </p:cNvPr>
          <p:cNvSpPr>
            <a:spLocks noGrp="1"/>
          </p:cNvSpPr>
          <p:nvPr>
            <p:ph type="title"/>
          </p:nvPr>
        </p:nvSpPr>
        <p:spPr/>
        <p:txBody>
          <a:bodyPr anchor="b">
            <a:normAutofit/>
          </a:bodyPr>
          <a:lstStyle/>
          <a:p>
            <a:r>
              <a:rPr lang="en-US"/>
              <a:t>Core Motion Basics</a:t>
            </a:r>
          </a:p>
        </p:txBody>
      </p:sp>
    </p:spTree>
    <p:extLst>
      <p:ext uri="{BB962C8B-B14F-4D97-AF65-F5344CB8AC3E}">
        <p14:creationId xmlns:p14="http://schemas.microsoft.com/office/powerpoint/2010/main" val="5916649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ED979-5F21-10A8-C82A-CC7D8C2858E0}"/>
              </a:ext>
            </a:extLst>
          </p:cNvPr>
          <p:cNvSpPr>
            <a:spLocks noGrp="1"/>
          </p:cNvSpPr>
          <p:nvPr>
            <p:ph type="title"/>
          </p:nvPr>
        </p:nvSpPr>
        <p:spPr/>
        <p:txBody>
          <a:bodyPr vert="horz" lIns="91440" tIns="45720" rIns="91440" bIns="45720" rtlCol="0" anchor="t">
            <a:normAutofit/>
          </a:bodyPr>
          <a:lstStyle/>
          <a:p>
            <a:r>
              <a:rPr lang="en-US" b="0" kern="1200" spc="-100" baseline="0">
                <a:latin typeface="+mj-lt"/>
                <a:ea typeface="+mj-ea"/>
                <a:cs typeface="+mj-cs"/>
              </a:rPr>
              <a:t>Overview of Core Motion and Sensor Types</a:t>
            </a:r>
          </a:p>
        </p:txBody>
      </p:sp>
      <p:pic>
        <p:nvPicPr>
          <p:cNvPr id="4" name="Content Placeholder 3" descr="Technology and data">
            <a:extLst>
              <a:ext uri="{FF2B5EF4-FFF2-40B4-BE49-F238E27FC236}">
                <a16:creationId xmlns:a16="http://schemas.microsoft.com/office/drawing/2014/main" id="{9D08150E-201E-49BC-9D79-ED9F78DCA85F}"/>
              </a:ext>
            </a:extLst>
          </p:cNvPr>
          <p:cNvPicPr>
            <a:picLocks noGrp="1" noChangeAspect="1"/>
          </p:cNvPicPr>
          <p:nvPr>
            <p:ph type="pic" sz="quarter" idx="13"/>
          </p:nvPr>
        </p:nvPicPr>
        <p:blipFill>
          <a:blip r:embed="rId3"/>
          <a:srcRect l="29016" r="29016"/>
          <a:stretch>
            <a:fillRect/>
          </a:stretch>
        </p:blipFill>
        <p:spPr>
          <a:prstGeom prst="rect">
            <a:avLst/>
          </a:prstGeom>
          <a:noFill/>
        </p:spPr>
      </p:pic>
      <p:sp>
        <p:nvSpPr>
          <p:cNvPr id="5" name="TextBox 4">
            <a:extLst>
              <a:ext uri="{FF2B5EF4-FFF2-40B4-BE49-F238E27FC236}">
                <a16:creationId xmlns:a16="http://schemas.microsoft.com/office/drawing/2014/main" id="{4778819F-99F7-49E9-96D7-C2F898C6A6F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Core Motion Framework</a:t>
            </a:r>
          </a:p>
          <a:p>
            <a:pPr marL="0" lvl="1" indent="0">
              <a:spcBef>
                <a:spcPts val="1000"/>
              </a:spcBef>
              <a:spcAft>
                <a:spcPts val="600"/>
              </a:spcAft>
              <a:buFont typeface="Arial" panose="020B0604020202020204" pitchFamily="34" charset="0"/>
              <a:buNone/>
            </a:pPr>
            <a:r>
              <a:rPr lang="en-US" sz="1400"/>
              <a:t>Core Motion provides access to motion data from multiple sensors on iOS and watchOS devices for app development.</a:t>
            </a:r>
          </a:p>
          <a:p>
            <a:pPr marL="0" indent="0">
              <a:spcBef>
                <a:spcPts val="2500"/>
              </a:spcBef>
              <a:spcAft>
                <a:spcPts val="600"/>
              </a:spcAft>
              <a:buFont typeface="Arial" panose="020B0604020202020204" pitchFamily="34" charset="0"/>
              <a:buNone/>
            </a:pPr>
            <a:r>
              <a:rPr lang="en-US" sz="1400" b="1"/>
              <a:t>Sensor Functions Explained</a:t>
            </a:r>
          </a:p>
          <a:p>
            <a:pPr marL="0" lvl="1" indent="0">
              <a:spcBef>
                <a:spcPts val="1000"/>
              </a:spcBef>
              <a:spcAft>
                <a:spcPts val="600"/>
              </a:spcAft>
              <a:buFont typeface="Arial" panose="020B0604020202020204" pitchFamily="34" charset="0"/>
              <a:buNone/>
            </a:pPr>
            <a:r>
              <a:rPr lang="en-US" sz="1400"/>
              <a:t>Accelerometer measures linear acceleration, gyroscope captures rotation, magnetometer detects magnetic fields for heading.</a:t>
            </a:r>
          </a:p>
          <a:p>
            <a:pPr marL="0" indent="0">
              <a:spcBef>
                <a:spcPts val="2500"/>
              </a:spcBef>
              <a:spcAft>
                <a:spcPts val="600"/>
              </a:spcAft>
              <a:buFont typeface="Arial" panose="020B0604020202020204" pitchFamily="34" charset="0"/>
              <a:buNone/>
            </a:pPr>
            <a:r>
              <a:rPr lang="en-US" sz="1400" b="1"/>
              <a:t>Device Motion Fusion</a:t>
            </a:r>
          </a:p>
          <a:p>
            <a:pPr marL="0" lvl="1" indent="0">
              <a:spcBef>
                <a:spcPts val="1000"/>
              </a:spcBef>
              <a:spcAft>
                <a:spcPts val="600"/>
              </a:spcAft>
              <a:buFont typeface="Arial" panose="020B0604020202020204" pitchFamily="34" charset="0"/>
              <a:buNone/>
            </a:pPr>
            <a:r>
              <a:rPr lang="en-US" sz="1400"/>
              <a:t>Device motion fuses sensor data to provide attitude, rotation rate, and gravity vector for comprehensive motion tracking.</a:t>
            </a:r>
          </a:p>
          <a:p>
            <a:pPr marL="0" indent="0">
              <a:spcBef>
                <a:spcPts val="2500"/>
              </a:spcBef>
              <a:spcAft>
                <a:spcPts val="600"/>
              </a:spcAft>
              <a:buFont typeface="Arial" panose="020B0604020202020204" pitchFamily="34" charset="0"/>
              <a:buNone/>
            </a:pPr>
            <a:r>
              <a:rPr lang="en-US" sz="1400" b="1"/>
              <a:t>Platform Differences and Efficiency</a:t>
            </a:r>
          </a:p>
          <a:p>
            <a:pPr marL="0" lvl="1" indent="0">
              <a:spcBef>
                <a:spcPts val="1000"/>
              </a:spcBef>
              <a:spcAft>
                <a:spcPts val="600"/>
              </a:spcAft>
              <a:buFont typeface="Arial" panose="020B0604020202020204" pitchFamily="34" charset="0"/>
              <a:buNone/>
            </a:pPr>
            <a:r>
              <a:rPr lang="en-US" sz="1400"/>
              <a:t>Developers must consider sensor availability, sampling rates, and battery constraints when using Core Motion on devices.</a:t>
            </a:r>
          </a:p>
        </p:txBody>
      </p:sp>
    </p:spTree>
    <p:extLst>
      <p:ext uri="{BB962C8B-B14F-4D97-AF65-F5344CB8AC3E}">
        <p14:creationId xmlns:p14="http://schemas.microsoft.com/office/powerpoint/2010/main" val="14292440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E163-A3E0-5A2D-F661-8F3376171C68}"/>
              </a:ext>
            </a:extLst>
          </p:cNvPr>
          <p:cNvSpPr>
            <a:spLocks noGrp="1"/>
          </p:cNvSpPr>
          <p:nvPr>
            <p:ph type="title"/>
          </p:nvPr>
        </p:nvSpPr>
        <p:spPr/>
        <p:txBody>
          <a:bodyPr vert="horz" lIns="91440" tIns="45720" rIns="91440" bIns="45720" rtlCol="0" anchor="t">
            <a:normAutofit/>
          </a:bodyPr>
          <a:lstStyle/>
          <a:p>
            <a:r>
              <a:rPr lang="en-US" sz="2800" b="0" kern="1200" spc="-100" baseline="0">
                <a:latin typeface="+mj-lt"/>
                <a:ea typeface="+mj-ea"/>
                <a:cs typeface="+mj-cs"/>
              </a:rPr>
              <a:t>Hands-On Setup with CMMotionManager</a:t>
            </a:r>
          </a:p>
        </p:txBody>
      </p:sp>
      <p:pic>
        <p:nvPicPr>
          <p:cNvPr id="4" name="Content Placeholder 3" descr="Computer script on a screen">
            <a:extLst>
              <a:ext uri="{FF2B5EF4-FFF2-40B4-BE49-F238E27FC236}">
                <a16:creationId xmlns:a16="http://schemas.microsoft.com/office/drawing/2014/main" id="{9362E422-9B3F-44BF-B1D1-EEE170B4584F}"/>
              </a:ext>
            </a:extLst>
          </p:cNvPr>
          <p:cNvPicPr>
            <a:picLocks noGrp="1" noChangeAspect="1"/>
          </p:cNvPicPr>
          <p:nvPr>
            <p:ph idx="1"/>
          </p:nvPr>
        </p:nvPicPr>
        <p:blipFill>
          <a:blip r:embed="rId3"/>
          <a:stretch>
            <a:fillRect/>
          </a:stretch>
        </p:blipFill>
        <p:spPr>
          <a:xfrm>
            <a:off x="4914900" y="1036494"/>
            <a:ext cx="6688138" cy="4450050"/>
          </a:xfrm>
          <a:prstGeom prst="rect">
            <a:avLst/>
          </a:prstGeom>
          <a:noFill/>
        </p:spPr>
      </p:pic>
      <p:sp>
        <p:nvSpPr>
          <p:cNvPr id="5" name="TextBox 4">
            <a:extLst>
              <a:ext uri="{FF2B5EF4-FFF2-40B4-BE49-F238E27FC236}">
                <a16:creationId xmlns:a16="http://schemas.microsoft.com/office/drawing/2014/main" id="{F18D1A9A-D659-4A89-AB89-3B6597F99C7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78704" y="2563586"/>
            <a:ext cx="3363393" cy="3708232"/>
          </a:xfrm>
          <a:prstGeom prst="rect">
            <a:avLst/>
          </a:prstGeom>
        </p:spPr>
        <p:txBody>
          <a:bodyPr>
            <a:normAutofit/>
          </a:bodyPr>
          <a:lstStyle/>
          <a:p>
            <a:pPr marL="0" indent="0">
              <a:lnSpc>
                <a:spcPct val="90000"/>
              </a:lnSpc>
              <a:spcBef>
                <a:spcPts val="2500"/>
              </a:spcBef>
              <a:spcAft>
                <a:spcPts val="600"/>
              </a:spcAft>
              <a:buNone/>
            </a:pPr>
            <a:r>
              <a:rPr lang="en-US" sz="1200" b="1" dirty="0"/>
              <a:t>Setup of </a:t>
            </a:r>
            <a:r>
              <a:rPr lang="en-US" sz="1200" b="1" dirty="0" err="1"/>
              <a:t>CMMotionManager</a:t>
            </a:r>
            <a:endParaRPr lang="en-US" sz="1200" b="1" dirty="0"/>
          </a:p>
          <a:p>
            <a:pPr marL="0" lvl="1" indent="0">
              <a:lnSpc>
                <a:spcPct val="90000"/>
              </a:lnSpc>
              <a:spcBef>
                <a:spcPts val="1000"/>
              </a:spcBef>
              <a:spcAft>
                <a:spcPts val="600"/>
              </a:spcAft>
              <a:buNone/>
            </a:pPr>
            <a:r>
              <a:rPr lang="en-US" sz="1200" dirty="0"/>
              <a:t>Students will initialize </a:t>
            </a:r>
            <a:r>
              <a:rPr lang="en-US" sz="1200" dirty="0" err="1"/>
              <a:t>CMMotionManager</a:t>
            </a:r>
            <a:r>
              <a:rPr lang="en-US" sz="1200" dirty="0"/>
              <a:t> and configure update intervals to start capturing motion data effectively.</a:t>
            </a:r>
          </a:p>
          <a:p>
            <a:pPr marL="0" indent="0">
              <a:lnSpc>
                <a:spcPct val="90000"/>
              </a:lnSpc>
              <a:spcBef>
                <a:spcPts val="2500"/>
              </a:spcBef>
              <a:spcAft>
                <a:spcPts val="600"/>
              </a:spcAft>
              <a:buNone/>
            </a:pPr>
            <a:r>
              <a:rPr lang="en-US" sz="1200" b="1" dirty="0"/>
              <a:t>Real-Time Accelerometer Data</a:t>
            </a:r>
          </a:p>
          <a:p>
            <a:pPr marL="0" lvl="1" indent="0">
              <a:lnSpc>
                <a:spcPct val="90000"/>
              </a:lnSpc>
              <a:spcBef>
                <a:spcPts val="1000"/>
              </a:spcBef>
              <a:spcAft>
                <a:spcPts val="600"/>
              </a:spcAft>
              <a:buNone/>
            </a:pPr>
            <a:r>
              <a:rPr lang="en-US" sz="1200" dirty="0"/>
              <a:t>Accelerometer updates will stream x, y, and z acceleration values to the console for live observation and analysis.</a:t>
            </a:r>
          </a:p>
          <a:p>
            <a:pPr marL="0" indent="0">
              <a:lnSpc>
                <a:spcPct val="90000"/>
              </a:lnSpc>
              <a:spcBef>
                <a:spcPts val="2500"/>
              </a:spcBef>
              <a:spcAft>
                <a:spcPts val="600"/>
              </a:spcAft>
              <a:buNone/>
            </a:pPr>
            <a:r>
              <a:rPr lang="en-US" sz="1200" b="1" dirty="0" err="1"/>
              <a:t>CMMotionManager</a:t>
            </a:r>
            <a:r>
              <a:rPr lang="en-US" sz="1200" b="1" dirty="0"/>
              <a:t> vs </a:t>
            </a:r>
            <a:r>
              <a:rPr lang="en-US" sz="1200" b="1" dirty="0" err="1"/>
              <a:t>CMPedometer</a:t>
            </a:r>
            <a:endParaRPr lang="en-US" sz="1200" b="1" dirty="0"/>
          </a:p>
          <a:p>
            <a:pPr marL="0" lvl="1" indent="0">
              <a:lnSpc>
                <a:spcPct val="90000"/>
              </a:lnSpc>
              <a:spcBef>
                <a:spcPts val="1000"/>
              </a:spcBef>
              <a:spcAft>
                <a:spcPts val="600"/>
              </a:spcAft>
              <a:buNone/>
            </a:pPr>
            <a:r>
              <a:rPr lang="en-US" sz="1200" dirty="0"/>
              <a:t>Understanding differences: </a:t>
            </a:r>
            <a:r>
              <a:rPr lang="en-US" sz="1200" dirty="0" err="1"/>
              <a:t>CMMotionManager</a:t>
            </a:r>
            <a:r>
              <a:rPr lang="en-US" sz="1200" dirty="0"/>
              <a:t> provides raw sensor data; </a:t>
            </a:r>
            <a:r>
              <a:rPr lang="en-US" sz="1200" dirty="0" err="1"/>
              <a:t>CMPedometer</a:t>
            </a:r>
            <a:r>
              <a:rPr lang="en-US" sz="1200" dirty="0"/>
              <a:t> offers processed info like step count.</a:t>
            </a:r>
          </a:p>
        </p:txBody>
      </p:sp>
    </p:spTree>
    <p:extLst>
      <p:ext uri="{BB962C8B-B14F-4D97-AF65-F5344CB8AC3E}">
        <p14:creationId xmlns:p14="http://schemas.microsoft.com/office/powerpoint/2010/main" val="15382518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1225296" y="990601"/>
            <a:ext cx="3168695" cy="3437544"/>
          </a:xfrm>
        </p:spPr>
        <p:txBody>
          <a:bodyPr spcFirstLastPara="1" vert="horz" lIns="121900" tIns="121900" rIns="121900" bIns="121900" rtlCol="0" anchor="t" anchorCtr="0">
            <a:normAutofit/>
          </a:bodyPr>
          <a:lstStyle/>
          <a:p>
            <a:r>
              <a:rPr lang="en-US"/>
              <a:t>Detecting Patterns</a:t>
            </a:r>
          </a:p>
        </p:txBody>
      </p:sp>
      <p:sp>
        <p:nvSpPr>
          <p:cNvPr id="91" name="Google Shape;91;p18"/>
          <p:cNvSpPr txBox="1">
            <a:spLocks noGrp="1"/>
          </p:cNvSpPr>
          <p:nvPr>
            <p:ph sz="quarter" idx="13"/>
          </p:nvPr>
        </p:nvSpPr>
        <p:spPr>
          <a:xfrm>
            <a:off x="4818888" y="990600"/>
            <a:ext cx="6126480" cy="5149971"/>
          </a:xfrm>
        </p:spPr>
        <p:txBody>
          <a:bodyPr spcFirstLastPara="1" vert="horz" lIns="121900" tIns="121900" rIns="121900" bIns="121900" rtlCol="0" anchorCtr="0">
            <a:normAutofit/>
          </a:bodyPr>
          <a:lstStyle/>
          <a:p>
            <a:pPr marL="0" indent="0">
              <a:spcBef>
                <a:spcPts val="1600"/>
              </a:spcBef>
              <a:buClr>
                <a:schemeClr val="dk1"/>
              </a:buClr>
              <a:buSzPts val="1100"/>
              <a:buNone/>
            </a:pPr>
            <a:r>
              <a:rPr lang="en-US"/>
              <a:t>Advanced Motion Detection</a:t>
            </a:r>
          </a:p>
          <a:p>
            <a:pPr indent="-397923">
              <a:spcBef>
                <a:spcPts val="1600"/>
              </a:spcBef>
              <a:buClr>
                <a:schemeClr val="dk1"/>
              </a:buClr>
              <a:buSzPts val="1100"/>
            </a:pPr>
            <a:r>
              <a:rPr lang="en-US" b="1"/>
              <a:t>Pattern Recognition</a:t>
            </a:r>
            <a:r>
              <a:rPr lang="en-US"/>
              <a:t>:</a:t>
            </a:r>
          </a:p>
          <a:p>
            <a:pPr lvl="1" indent="-397923">
              <a:buClr>
                <a:schemeClr val="dk1"/>
              </a:buClr>
              <a:buSzPts val="1100"/>
            </a:pPr>
            <a:r>
              <a:rPr lang="en-US"/>
              <a:t>Combine accelerometer and gyroscope data to detect activities like jumping or squatting.</a:t>
            </a:r>
          </a:p>
          <a:p>
            <a:pPr indent="-397923">
              <a:buClr>
                <a:schemeClr val="dk1"/>
              </a:buClr>
              <a:buSzPts val="1100"/>
            </a:pPr>
            <a:r>
              <a:rPr lang="en-US" b="1"/>
              <a:t>Real-Life Example</a:t>
            </a:r>
            <a:r>
              <a:rPr lang="en-US"/>
              <a:t>:</a:t>
            </a:r>
          </a:p>
          <a:p>
            <a:pPr lvl="1" indent="-397923">
              <a:buClr>
                <a:schemeClr val="dk1"/>
              </a:buClr>
              <a:buSzPts val="1100"/>
            </a:pPr>
            <a:r>
              <a:rPr lang="en-US"/>
              <a:t>A fitness app provides feedback on running posture using motion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CE29F-1FBB-6F4C-FBC3-DC5984399AFD}"/>
              </a:ext>
            </a:extLst>
          </p:cNvPr>
          <p:cNvSpPr>
            <a:spLocks noGrp="1"/>
          </p:cNvSpPr>
          <p:nvPr>
            <p:ph type="title"/>
          </p:nvPr>
        </p:nvSpPr>
        <p:spPr>
          <a:xfrm>
            <a:off x="612647" y="683319"/>
            <a:ext cx="6339541" cy="1143000"/>
          </a:xfrm>
        </p:spPr>
        <p:txBody>
          <a:bodyPr anchor="b">
            <a:normAutofit/>
          </a:bodyPr>
          <a:lstStyle/>
          <a:p>
            <a:r>
              <a:rPr lang="en-US"/>
              <a:t>Filtering motion data for stability</a:t>
            </a:r>
          </a:p>
        </p:txBody>
      </p:sp>
      <p:sp>
        <p:nvSpPr>
          <p:cNvPr id="3" name="Content Placeholder 2">
            <a:extLst>
              <a:ext uri="{FF2B5EF4-FFF2-40B4-BE49-F238E27FC236}">
                <a16:creationId xmlns:a16="http://schemas.microsoft.com/office/drawing/2014/main" id="{D40AE577-8BC0-AB86-D781-3052946A8C3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4" y="1975104"/>
            <a:ext cx="6339414" cy="4228997"/>
          </a:xfrm>
        </p:spPr>
        <p:txBody>
          <a:bodyPr>
            <a:normAutofit/>
          </a:bodyPr>
          <a:lstStyle/>
          <a:p>
            <a:pPr marL="0" indent="0">
              <a:spcBef>
                <a:spcPts val="2500"/>
              </a:spcBef>
              <a:buFont typeface="Arial" panose="020B0604020202020204" pitchFamily="34" charset="0"/>
              <a:buNone/>
            </a:pPr>
            <a:r>
              <a:rPr lang="en-US" sz="1400" b="1" dirty="0"/>
              <a:t>Sensor Noise Challenges</a:t>
            </a:r>
          </a:p>
          <a:p>
            <a:pPr marL="0" lvl="1" indent="0">
              <a:buFont typeface="Arial" panose="020B0604020202020204" pitchFamily="34" charset="0"/>
              <a:buNone/>
            </a:pPr>
            <a:r>
              <a:rPr lang="en-US" sz="1400" dirty="0"/>
              <a:t>Sensor motion data often contains noise due to vibrations and rapid movements, affecting accuracy.</a:t>
            </a:r>
          </a:p>
          <a:p>
            <a:pPr marL="0" indent="0">
              <a:spcBef>
                <a:spcPts val="2500"/>
              </a:spcBef>
              <a:buFont typeface="Arial" panose="020B0604020202020204" pitchFamily="34" charset="0"/>
              <a:buNone/>
            </a:pPr>
            <a:r>
              <a:rPr lang="en-US" sz="1400" b="1" dirty="0"/>
              <a:t>Low-Pass Filtering Formula</a:t>
            </a:r>
          </a:p>
          <a:p>
            <a:pPr marL="0" lvl="1" indent="0">
              <a:buFont typeface="Arial" panose="020B0604020202020204" pitchFamily="34" charset="0"/>
              <a:buNone/>
            </a:pPr>
            <a:r>
              <a:rPr lang="en-US" sz="1400" dirty="0"/>
              <a:t>Low-pass filtering smooths data using a weighted average of current and previous readings with alpha factor.</a:t>
            </a:r>
          </a:p>
          <a:p>
            <a:pPr marL="0" lvl="1" indent="0">
              <a:buNone/>
            </a:pPr>
            <a:r>
              <a:rPr lang="en-US" dirty="0"/>
              <a:t>filtered = </a:t>
            </a:r>
            <a:r>
              <a:rPr lang="el-GR" dirty="0"/>
              <a:t>α * </a:t>
            </a:r>
            <a:r>
              <a:rPr lang="en-US" dirty="0" err="1"/>
              <a:t>new_value</a:t>
            </a:r>
            <a:r>
              <a:rPr lang="en-US" dirty="0"/>
              <a:t> + (1 - </a:t>
            </a:r>
            <a:r>
              <a:rPr lang="el-GR" dirty="0"/>
              <a:t>α) * </a:t>
            </a:r>
            <a:r>
              <a:rPr lang="en-US" dirty="0" err="1"/>
              <a:t>previous_filtered_value</a:t>
            </a:r>
            <a:endParaRPr lang="en-US" sz="1400" dirty="0"/>
          </a:p>
          <a:p>
            <a:pPr marL="0" indent="0">
              <a:spcBef>
                <a:spcPts val="2500"/>
              </a:spcBef>
              <a:buFont typeface="Arial" panose="020B0604020202020204" pitchFamily="34" charset="0"/>
              <a:buNone/>
            </a:pPr>
            <a:r>
              <a:rPr lang="en-US" sz="1400" b="1" dirty="0"/>
              <a:t>Benefits for UI and Gestures</a:t>
            </a:r>
          </a:p>
          <a:p>
            <a:pPr marL="0" lvl="1" indent="0">
              <a:buFont typeface="Arial" panose="020B0604020202020204" pitchFamily="34" charset="0"/>
              <a:buNone/>
            </a:pPr>
            <a:r>
              <a:rPr lang="en-US" sz="1400" dirty="0"/>
              <a:t>Filtering reduces sudden spikes, enabling stable motion data visualization and accurate gesture detection.</a:t>
            </a:r>
          </a:p>
        </p:txBody>
      </p:sp>
      <p:pic>
        <p:nvPicPr>
          <p:cNvPr id="5" name="Content Placeholder 4" descr="Financial risk concept metaphor">
            <a:extLst>
              <a:ext uri="{FF2B5EF4-FFF2-40B4-BE49-F238E27FC236}">
                <a16:creationId xmlns:a16="http://schemas.microsoft.com/office/drawing/2014/main" id="{8C2335D2-C2DA-4542-89E8-9C009DEA4B3C}"/>
              </a:ext>
            </a:extLst>
          </p:cNvPr>
          <p:cNvPicPr>
            <a:picLocks noGrp="1" noChangeAspect="1"/>
          </p:cNvPicPr>
          <p:nvPr>
            <p:ph type="pic" sz="quarter" idx="13"/>
          </p:nvPr>
        </p:nvPicPr>
        <p:blipFill>
          <a:blip r:embed="rId3"/>
          <a:srcRect l="27751" r="27796" b="-1"/>
          <a:stretch>
            <a:fillRect/>
          </a:stretch>
        </p:blipFill>
        <p:spPr>
          <a:xfrm>
            <a:off x="7624831" y="10"/>
            <a:ext cx="4567169" cy="6857990"/>
          </a:xfrm>
          <a:prstGeom prst="rect">
            <a:avLst/>
          </a:prstGeom>
          <a:noFill/>
          <a:ln w="25400">
            <a:solidFill>
              <a:srgbClr val="000000"/>
            </a:solidFill>
          </a:ln>
        </p:spPr>
      </p:pic>
    </p:spTree>
    <p:extLst>
      <p:ext uri="{BB962C8B-B14F-4D97-AF65-F5344CB8AC3E}">
        <p14:creationId xmlns:p14="http://schemas.microsoft.com/office/powerpoint/2010/main" val="14464880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itch, Roll, and Yaw | How Things Fly">
            <a:extLst>
              <a:ext uri="{FF2B5EF4-FFF2-40B4-BE49-F238E27FC236}">
                <a16:creationId xmlns:a16="http://schemas.microsoft.com/office/drawing/2014/main" id="{B38D6014-8DCE-1FA8-E35E-1318497A4A6E}"/>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11060" r="1106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D3030C1E-3090-A595-2D10-15DBE53581D9}"/>
              </a:ext>
            </a:extLst>
          </p:cNvPr>
          <p:cNvSpPr txBox="1"/>
          <p:nvPr/>
        </p:nvSpPr>
        <p:spPr>
          <a:xfrm>
            <a:off x="457200" y="229755"/>
            <a:ext cx="6096000" cy="6340197"/>
          </a:xfrm>
          <a:prstGeom prst="rect">
            <a:avLst/>
          </a:prstGeom>
          <a:noFill/>
        </p:spPr>
        <p:txBody>
          <a:bodyPr wrap="square">
            <a:spAutoFit/>
          </a:bodyPr>
          <a:lstStyle/>
          <a:p>
            <a:r>
              <a:rPr lang="en-MX" sz="1400" dirty="0"/>
              <a:t> 1. gravity (CMAcceleration)</a:t>
            </a:r>
          </a:p>
          <a:p>
            <a:endParaRPr lang="en-MX" sz="1400" dirty="0"/>
          </a:p>
          <a:p>
            <a:r>
              <a:rPr lang="en-MX" sz="1400" dirty="0"/>
              <a:t>Represents the direction and magnitude of gravity relative to the device.</a:t>
            </a:r>
          </a:p>
          <a:p>
            <a:r>
              <a:rPr lang="en-MX" sz="1400" dirty="0"/>
              <a:t>Used to determine the tilt of the device.</a:t>
            </a:r>
          </a:p>
          <a:p>
            <a:endParaRPr lang="en-MX" sz="1400" dirty="0"/>
          </a:p>
          <a:p>
            <a:r>
              <a:rPr lang="en-MX" sz="1400" dirty="0"/>
              <a:t>2. userAcceleration (CMAcceleration)</a:t>
            </a:r>
          </a:p>
          <a:p>
            <a:endParaRPr lang="en-MX" sz="1400" dirty="0"/>
          </a:p>
          <a:p>
            <a:r>
              <a:rPr lang="en-MX" sz="1400" dirty="0"/>
              <a:t>Measures acceleration caused by user movement (excluding gravity).</a:t>
            </a:r>
          </a:p>
          <a:p>
            <a:r>
              <a:rPr lang="en-MX" sz="1400" dirty="0"/>
              <a:t>Useful for detecting shakes, taps, or sudden motion.</a:t>
            </a:r>
          </a:p>
          <a:p>
            <a:r>
              <a:rPr lang="en-MX" sz="1400" dirty="0"/>
              <a:t>Not directly used to tilt the ball in this demo, but shown in the UI for reference.</a:t>
            </a:r>
          </a:p>
          <a:p>
            <a:endParaRPr lang="en-MX" sz="1400" dirty="0"/>
          </a:p>
          <a:p>
            <a:endParaRPr lang="en-MX" sz="1400" dirty="0"/>
          </a:p>
          <a:p>
            <a:r>
              <a:rPr lang="en-MX" sz="1400" dirty="0"/>
              <a:t>3. rotationRate (CMRotationRate)</a:t>
            </a:r>
          </a:p>
          <a:p>
            <a:endParaRPr lang="en-MX" sz="1400" dirty="0"/>
          </a:p>
          <a:p>
            <a:r>
              <a:rPr lang="en-MX" sz="1400" dirty="0"/>
              <a:t>Measures angular velocity (how fast the device is rotating) around each axis.</a:t>
            </a:r>
          </a:p>
          <a:p>
            <a:r>
              <a:rPr lang="en-MX" sz="1400" dirty="0"/>
              <a:t>Also not used to tilt the ball here, but could be used for more dynamic effects like spinning.</a:t>
            </a:r>
          </a:p>
          <a:p>
            <a:endParaRPr lang="en-MX" sz="1400" dirty="0"/>
          </a:p>
          <a:p>
            <a:endParaRPr lang="en-MX" sz="1400" dirty="0"/>
          </a:p>
          <a:p>
            <a:r>
              <a:rPr lang="en-MX" sz="1400" dirty="0"/>
              <a:t>4. attitude (CMAttitude)</a:t>
            </a:r>
          </a:p>
          <a:p>
            <a:endParaRPr lang="en-MX" sz="1400" dirty="0"/>
          </a:p>
          <a:p>
            <a:r>
              <a:rPr lang="en-MX" sz="1400" dirty="0"/>
              <a:t>Contains pitch, roll, and yaw — the orientation of the device in 3D space.</a:t>
            </a:r>
          </a:p>
          <a:p>
            <a:r>
              <a:rPr lang="en-MX" sz="1400" dirty="0"/>
              <a:t>Displayed in the UI as degrees, but not used to move the ball in this example.</a:t>
            </a:r>
          </a:p>
        </p:txBody>
      </p:sp>
    </p:spTree>
    <p:extLst>
      <p:ext uri="{BB962C8B-B14F-4D97-AF65-F5344CB8AC3E}">
        <p14:creationId xmlns:p14="http://schemas.microsoft.com/office/powerpoint/2010/main" val="249643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752570-41ED-FBFC-032E-893FD0BF45F9}"/>
              </a:ext>
            </a:extLst>
          </p:cNvPr>
          <p:cNvSpPr txBox="1"/>
          <p:nvPr/>
        </p:nvSpPr>
        <p:spPr>
          <a:xfrm>
            <a:off x="457200" y="381000"/>
            <a:ext cx="6096000" cy="6463308"/>
          </a:xfrm>
          <a:prstGeom prst="rect">
            <a:avLst/>
          </a:prstGeom>
          <a:noFill/>
        </p:spPr>
        <p:txBody>
          <a:bodyPr wrap="square">
            <a:spAutoFit/>
          </a:bodyPr>
          <a:lstStyle/>
          <a:p>
            <a:pPr>
              <a:buNone/>
            </a:pPr>
            <a:r>
              <a:rPr lang="en-US" b="1" dirty="0"/>
              <a:t>Tilt Ball Demo</a:t>
            </a:r>
            <a:r>
              <a:rPr lang="en-US" dirty="0"/>
              <a:t> — Explore your device’s motion sensors in real time!</a:t>
            </a:r>
          </a:p>
          <a:p>
            <a:pPr>
              <a:buNone/>
            </a:pPr>
            <a:endParaRPr lang="en-US" dirty="0"/>
          </a:p>
          <a:p>
            <a:pPr>
              <a:buNone/>
            </a:pPr>
            <a:r>
              <a:rPr lang="en-US" dirty="0"/>
              <a:t>This interactive app visualizes how your device responds to movement using Core Motion. It tracks and displays key motion metrics like:</a:t>
            </a:r>
          </a:p>
          <a:p>
            <a:pPr>
              <a:buNone/>
            </a:pPr>
            <a:endParaRPr lang="en-US" dirty="0"/>
          </a:p>
          <a:p>
            <a:pPr marL="285750" indent="-285750">
              <a:buFont typeface="Arial" panose="020B0604020202020204" pitchFamily="34" charset="0"/>
              <a:buChar char="•"/>
            </a:pPr>
            <a:r>
              <a:rPr lang="en-US" b="1" dirty="0"/>
              <a:t>Pitch, Roll, and Yaw</a:t>
            </a:r>
            <a:r>
              <a:rPr lang="en-US" dirty="0"/>
              <a:t> — the orientation of your device in 3D space.</a:t>
            </a:r>
          </a:p>
          <a:p>
            <a:pPr marL="285750" indent="-285750">
              <a:buFont typeface="Arial" panose="020B0604020202020204" pitchFamily="34" charset="0"/>
              <a:buChar char="•"/>
            </a:pPr>
            <a:r>
              <a:rPr lang="en-US" b="1" dirty="0"/>
              <a:t>Gravity vector</a:t>
            </a:r>
            <a:r>
              <a:rPr lang="en-US" dirty="0"/>
              <a:t> — showing how gravity is perceived based on tilt.</a:t>
            </a:r>
          </a:p>
          <a:p>
            <a:pPr marL="285750" indent="-285750">
              <a:buFont typeface="Arial" panose="020B0604020202020204" pitchFamily="34" charset="0"/>
              <a:buChar char="•"/>
            </a:pPr>
            <a:r>
              <a:rPr lang="en-US" b="1" dirty="0"/>
              <a:t>User acceleration</a:t>
            </a:r>
            <a:r>
              <a:rPr lang="en-US" dirty="0"/>
              <a:t> — movement caused by you (excluding gravity).</a:t>
            </a:r>
          </a:p>
          <a:p>
            <a:pPr marL="285750" indent="-285750">
              <a:buFont typeface="Arial" panose="020B0604020202020204" pitchFamily="34" charset="0"/>
              <a:buChar char="•"/>
            </a:pPr>
            <a:r>
              <a:rPr lang="en-US" b="1" dirty="0"/>
              <a:t>Gyroscope rotation rate</a:t>
            </a:r>
            <a:r>
              <a:rPr lang="en-US" dirty="0"/>
              <a:t> — how fast the device is spinning.</a:t>
            </a:r>
          </a:p>
          <a:p>
            <a:pPr>
              <a:buFont typeface="Arial" panose="020B0604020202020204" pitchFamily="34" charset="0"/>
              <a:buChar char="•"/>
            </a:pPr>
            <a:endParaRPr lang="en-US" dirty="0"/>
          </a:p>
          <a:p>
            <a:pPr>
              <a:buNone/>
            </a:pPr>
            <a:r>
              <a:rPr lang="en-US" b="1" dirty="0"/>
              <a:t>Tilt Ball Feature:</a:t>
            </a:r>
          </a:p>
          <a:p>
            <a:pPr>
              <a:buNone/>
            </a:pPr>
            <a:r>
              <a:rPr lang="en-US" dirty="0"/>
              <a:t>Watch a ball move smoothly across the screen as you tilt your device! The app uses filtered gravity data to simulate realistic motion, making it a great demo for physics, sensor tech, or just fun experimentation.</a:t>
            </a:r>
          </a:p>
          <a:p>
            <a:pPr>
              <a:buNone/>
            </a:pPr>
            <a:r>
              <a:rPr lang="en-US" dirty="0"/>
              <a:t>Perfect for students, developers, or anyone curious about how motion sensors work under the hood.</a:t>
            </a:r>
          </a:p>
        </p:txBody>
      </p:sp>
      <p:pic>
        <p:nvPicPr>
          <p:cNvPr id="10" name="Picture 9">
            <a:extLst>
              <a:ext uri="{FF2B5EF4-FFF2-40B4-BE49-F238E27FC236}">
                <a16:creationId xmlns:a16="http://schemas.microsoft.com/office/drawing/2014/main" id="{B889D93D-3F07-6CCB-E9E2-9D63334A70B2}"/>
              </a:ext>
            </a:extLst>
          </p:cNvPr>
          <p:cNvPicPr>
            <a:picLocks noChangeAspect="1"/>
          </p:cNvPicPr>
          <p:nvPr/>
        </p:nvPicPr>
        <p:blipFill>
          <a:blip r:embed="rId2"/>
          <a:stretch>
            <a:fillRect/>
          </a:stretch>
        </p:blipFill>
        <p:spPr>
          <a:xfrm>
            <a:off x="8229600" y="0"/>
            <a:ext cx="3252247" cy="6858000"/>
          </a:xfrm>
          <a:prstGeom prst="rect">
            <a:avLst/>
          </a:prstGeom>
        </p:spPr>
      </p:pic>
    </p:spTree>
    <p:extLst>
      <p:ext uri="{BB962C8B-B14F-4D97-AF65-F5344CB8AC3E}">
        <p14:creationId xmlns:p14="http://schemas.microsoft.com/office/powerpoint/2010/main" val="4235140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806D0-3392-F5B4-A73E-00A39DEB5633}"/>
              </a:ext>
            </a:extLst>
          </p:cNvPr>
          <p:cNvSpPr>
            <a:spLocks noGrp="1"/>
          </p:cNvSpPr>
          <p:nvPr>
            <p:ph type="title"/>
          </p:nvPr>
        </p:nvSpPr>
        <p:spPr/>
        <p:txBody>
          <a:bodyPr anchor="b">
            <a:normAutofit/>
          </a:bodyPr>
          <a:lstStyle/>
          <a:p>
            <a:r>
              <a:rPr lang="en-US"/>
              <a:t>Advanced Motion Handling</a:t>
            </a:r>
          </a:p>
        </p:txBody>
      </p:sp>
    </p:spTree>
    <p:extLst>
      <p:ext uri="{BB962C8B-B14F-4D97-AF65-F5344CB8AC3E}">
        <p14:creationId xmlns:p14="http://schemas.microsoft.com/office/powerpoint/2010/main" val="262942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49E1B-A234-31BD-C1CF-D27A60FE9BFD}"/>
              </a:ext>
            </a:extLst>
          </p:cNvPr>
          <p:cNvSpPr>
            <a:spLocks noGrp="1"/>
          </p:cNvSpPr>
          <p:nvPr>
            <p:ph type="title"/>
          </p:nvPr>
        </p:nvSpPr>
        <p:spPr/>
        <p:txBody>
          <a:bodyPr vert="horz" lIns="91440" tIns="45720" rIns="91440" bIns="45720" rtlCol="0" anchor="t">
            <a:normAutofit/>
          </a:bodyPr>
          <a:lstStyle/>
          <a:p>
            <a:r>
              <a:rPr lang="en-US" b="0" kern="1200" spc="-100" baseline="0" dirty="0">
                <a:latin typeface="+mj-lt"/>
                <a:ea typeface="+mj-ea"/>
                <a:cs typeface="+mj-cs"/>
              </a:rPr>
              <a:t>Using </a:t>
            </a:r>
            <a:r>
              <a:rPr lang="en-US" b="0" kern="1200" spc="-100" baseline="0" dirty="0" err="1">
                <a:latin typeface="+mj-lt"/>
                <a:ea typeface="+mj-ea"/>
                <a:cs typeface="+mj-cs"/>
              </a:rPr>
              <a:t>CMPedometer</a:t>
            </a:r>
            <a:r>
              <a:rPr lang="en-US" b="0" kern="1200" spc="-100" baseline="0" dirty="0">
                <a:latin typeface="+mj-lt"/>
                <a:ea typeface="+mj-ea"/>
                <a:cs typeface="+mj-cs"/>
              </a:rPr>
              <a:t> and </a:t>
            </a:r>
            <a:r>
              <a:rPr lang="en-US" b="0" kern="1200" spc="-100" baseline="0" dirty="0" err="1">
                <a:latin typeface="+mj-lt"/>
                <a:ea typeface="+mj-ea"/>
                <a:cs typeface="+mj-cs"/>
              </a:rPr>
              <a:t>CMDeviceMotion</a:t>
            </a:r>
            <a:endParaRPr lang="en-US" b="0" kern="1200" spc="-100" baseline="0" dirty="0">
              <a:latin typeface="+mj-lt"/>
              <a:ea typeface="+mj-ea"/>
              <a:cs typeface="+mj-cs"/>
            </a:endParaRPr>
          </a:p>
        </p:txBody>
      </p:sp>
      <p:pic>
        <p:nvPicPr>
          <p:cNvPr id="4" name="Content Placeholder 3" descr="Man in cafe paying contactless with smartwatch">
            <a:extLst>
              <a:ext uri="{FF2B5EF4-FFF2-40B4-BE49-F238E27FC236}">
                <a16:creationId xmlns:a16="http://schemas.microsoft.com/office/drawing/2014/main" id="{093D64DA-CF1D-4D47-B4F1-765BADB8783E}"/>
              </a:ext>
            </a:extLst>
          </p:cNvPr>
          <p:cNvPicPr>
            <a:picLocks noGrp="1" noChangeAspect="1"/>
          </p:cNvPicPr>
          <p:nvPr>
            <p:ph type="pic" sz="quarter" idx="13"/>
          </p:nvPr>
        </p:nvPicPr>
        <p:blipFill>
          <a:blip r:embed="rId3"/>
          <a:srcRect l="26695" r="26695"/>
          <a:stretch>
            <a:fillRect/>
          </a:stretch>
        </p:blipFill>
        <p:spPr>
          <a:prstGeom prst="rect">
            <a:avLst/>
          </a:prstGeom>
          <a:noFill/>
        </p:spPr>
      </p:pic>
      <p:sp>
        <p:nvSpPr>
          <p:cNvPr id="5" name="TextBox 4">
            <a:extLst>
              <a:ext uri="{FF2B5EF4-FFF2-40B4-BE49-F238E27FC236}">
                <a16:creationId xmlns:a16="http://schemas.microsoft.com/office/drawing/2014/main" id="{4051648E-8CAA-4848-A973-5311E1A45B3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dirty="0" err="1"/>
              <a:t>CMPedometer</a:t>
            </a:r>
            <a:r>
              <a:rPr lang="en-US" sz="1400" b="1" dirty="0"/>
              <a:t> Overview</a:t>
            </a:r>
          </a:p>
          <a:p>
            <a:pPr marL="0" lvl="1" indent="0">
              <a:spcBef>
                <a:spcPts val="1000"/>
              </a:spcBef>
              <a:spcAft>
                <a:spcPts val="600"/>
              </a:spcAft>
              <a:buFont typeface="Arial" panose="020B0604020202020204" pitchFamily="34" charset="0"/>
              <a:buNone/>
            </a:pPr>
            <a:r>
              <a:rPr lang="en-US" sz="1400" dirty="0" err="1"/>
              <a:t>CMPedometer</a:t>
            </a:r>
            <a:r>
              <a:rPr lang="en-US" sz="1400" dirty="0"/>
              <a:t> tracks steps, distance, and cadence, optimized for fitness apps with energy efficiency.</a:t>
            </a:r>
          </a:p>
          <a:p>
            <a:pPr marL="0" indent="0">
              <a:spcBef>
                <a:spcPts val="2500"/>
              </a:spcBef>
              <a:spcAft>
                <a:spcPts val="600"/>
              </a:spcAft>
              <a:buFont typeface="Arial" panose="020B0604020202020204" pitchFamily="34" charset="0"/>
              <a:buNone/>
            </a:pPr>
            <a:r>
              <a:rPr lang="en-US" sz="1400" b="1" dirty="0" err="1"/>
              <a:t>CMDeviceMotion</a:t>
            </a:r>
            <a:r>
              <a:rPr lang="en-US" sz="1400" b="1" dirty="0"/>
              <a:t> Data</a:t>
            </a:r>
          </a:p>
          <a:p>
            <a:pPr marL="0" lvl="1" indent="0">
              <a:spcBef>
                <a:spcPts val="1000"/>
              </a:spcBef>
              <a:spcAft>
                <a:spcPts val="600"/>
              </a:spcAft>
              <a:buFont typeface="Arial" panose="020B0604020202020204" pitchFamily="34" charset="0"/>
              <a:buNone/>
            </a:pPr>
            <a:r>
              <a:rPr lang="en-US" sz="1400" dirty="0" err="1"/>
              <a:t>CMDeviceMotion</a:t>
            </a:r>
            <a:r>
              <a:rPr lang="en-US" sz="1400" dirty="0"/>
              <a:t> provides detailed orientation and movement using multiple sensors like attitude and rotation rate.</a:t>
            </a:r>
          </a:p>
          <a:p>
            <a:pPr marL="0" indent="0">
              <a:spcBef>
                <a:spcPts val="2500"/>
              </a:spcBef>
              <a:spcAft>
                <a:spcPts val="600"/>
              </a:spcAft>
              <a:buFont typeface="Arial" panose="020B0604020202020204" pitchFamily="34" charset="0"/>
              <a:buNone/>
            </a:pPr>
            <a:r>
              <a:rPr lang="en-US" sz="1400" b="1" dirty="0"/>
              <a:t>Motion Data Handling</a:t>
            </a:r>
          </a:p>
          <a:p>
            <a:pPr marL="0" lvl="1" indent="0">
              <a:spcBef>
                <a:spcPts val="1000"/>
              </a:spcBef>
              <a:spcAft>
                <a:spcPts val="600"/>
              </a:spcAft>
              <a:buFont typeface="Arial" panose="020B0604020202020204" pitchFamily="34" charset="0"/>
              <a:buNone/>
            </a:pPr>
            <a:r>
              <a:rPr lang="en-US" sz="1400" dirty="0"/>
              <a:t>Efficient motion updates with managed intervals, background processing, and filtering enhance motion data accuracy.</a:t>
            </a:r>
          </a:p>
          <a:p>
            <a:pPr marL="0" indent="0">
              <a:spcBef>
                <a:spcPts val="2500"/>
              </a:spcBef>
              <a:spcAft>
                <a:spcPts val="600"/>
              </a:spcAft>
              <a:buFont typeface="Arial" panose="020B0604020202020204" pitchFamily="34" charset="0"/>
              <a:buNone/>
            </a:pPr>
            <a:r>
              <a:rPr lang="en-US" sz="1400" b="1" dirty="0"/>
              <a:t>Real-Time Visualization</a:t>
            </a:r>
          </a:p>
          <a:p>
            <a:pPr marL="0" lvl="1" indent="0">
              <a:spcBef>
                <a:spcPts val="1000"/>
              </a:spcBef>
              <a:spcAft>
                <a:spcPts val="600"/>
              </a:spcAft>
              <a:buFont typeface="Arial" panose="020B0604020202020204" pitchFamily="34" charset="0"/>
              <a:buNone/>
            </a:pPr>
            <a:r>
              <a:rPr lang="en-US" sz="1400" dirty="0"/>
              <a:t>Real-time display of motion data on Apple Watch includes x, y, z values and pitch, roll, yaw visualization.</a:t>
            </a:r>
          </a:p>
        </p:txBody>
      </p:sp>
    </p:spTree>
    <p:extLst>
      <p:ext uri="{BB962C8B-B14F-4D97-AF65-F5344CB8AC3E}">
        <p14:creationId xmlns:p14="http://schemas.microsoft.com/office/powerpoint/2010/main" val="12247731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09CBFC-CABB-087D-D872-41DCDD2020CD}"/>
              </a:ext>
            </a:extLst>
          </p:cNvPr>
          <p:cNvSpPr>
            <a:spLocks noGrp="1"/>
          </p:cNvSpPr>
          <p:nvPr>
            <p:ph sz="quarter" idx="14"/>
          </p:nvPr>
        </p:nvSpPr>
        <p:spPr>
          <a:xfrm>
            <a:off x="266700" y="457200"/>
            <a:ext cx="6370320" cy="5195890"/>
          </a:xfrm>
        </p:spPr>
        <p:txBody>
          <a:bodyPr>
            <a:normAutofit fontScale="92500" lnSpcReduction="10000"/>
          </a:bodyPr>
          <a:lstStyle/>
          <a:p>
            <a:r>
              <a:rPr lang="en-US" b="1" dirty="0"/>
              <a:t>Step Race Game</a:t>
            </a:r>
            <a:r>
              <a:rPr lang="en-US" dirty="0"/>
              <a:t> — A fun and interactive pedometer-powered challenge!</a:t>
            </a:r>
          </a:p>
          <a:p>
            <a:r>
              <a:rPr lang="en-US" dirty="0"/>
              <a:t>This app turns your steps into a race! Using your device’s motion sensors, it tracks your </a:t>
            </a:r>
            <a:r>
              <a:rPr lang="en-US" b="1" dirty="0"/>
              <a:t>real-time walking activity</a:t>
            </a:r>
            <a:r>
              <a:rPr lang="en-US" dirty="0"/>
              <a:t> and visualizes your progress toward a step goal with a playful runner animation.</a:t>
            </a:r>
          </a:p>
          <a:p>
            <a:r>
              <a:rPr lang="en-MX" b="1" dirty="0"/>
              <a:t> </a:t>
            </a:r>
            <a:r>
              <a:rPr lang="en-US" b="1" dirty="0"/>
              <a:t>Features:</a:t>
            </a:r>
          </a:p>
          <a:p>
            <a:r>
              <a:rPr lang="en-US" b="1" dirty="0"/>
              <a:t>Live step tracking</a:t>
            </a:r>
            <a:r>
              <a:rPr lang="en-US" dirty="0"/>
              <a:t> using Core Motion’s pedometer.</a:t>
            </a:r>
          </a:p>
          <a:p>
            <a:r>
              <a:rPr lang="en-US" dirty="0"/>
              <a:t>Displays key metrics like: </a:t>
            </a:r>
          </a:p>
          <a:p>
            <a:pPr lvl="1"/>
            <a:r>
              <a:rPr lang="en-US" dirty="0"/>
              <a:t>Total steps</a:t>
            </a:r>
          </a:p>
          <a:p>
            <a:pPr lvl="1"/>
            <a:r>
              <a:rPr lang="en-US" dirty="0"/>
              <a:t>Distance walked</a:t>
            </a:r>
          </a:p>
          <a:p>
            <a:pPr lvl="1"/>
            <a:r>
              <a:rPr lang="en-US" dirty="0"/>
              <a:t>Cadence (steps per minute)</a:t>
            </a:r>
          </a:p>
          <a:p>
            <a:pPr lvl="1"/>
            <a:r>
              <a:rPr lang="en-US" dirty="0"/>
              <a:t>Pace (seconds per meter)</a:t>
            </a:r>
          </a:p>
          <a:p>
            <a:r>
              <a:rPr lang="en-US" dirty="0"/>
              <a:t>A </a:t>
            </a:r>
            <a:r>
              <a:rPr lang="en-US" b="1" dirty="0"/>
              <a:t>progress bar</a:t>
            </a:r>
            <a:r>
              <a:rPr lang="en-US" dirty="0"/>
              <a:t> with a moving runner emoji that races toward the finish line.</a:t>
            </a:r>
          </a:p>
          <a:p>
            <a:r>
              <a:rPr lang="en-US" b="1" dirty="0"/>
              <a:t>Customizable step goal</a:t>
            </a:r>
            <a:r>
              <a:rPr lang="en-US" dirty="0"/>
              <a:t> — set your own challenge!</a:t>
            </a:r>
          </a:p>
          <a:p>
            <a:r>
              <a:rPr lang="en-US" b="1" dirty="0"/>
              <a:t>Debug mode</a:t>
            </a:r>
            <a:r>
              <a:rPr lang="en-US" dirty="0"/>
              <a:t> for classroom demos — simulate steps without walking.</a:t>
            </a:r>
          </a:p>
          <a:p>
            <a:r>
              <a:rPr lang="en-US" dirty="0"/>
              <a:t>Celebratory alert when you reach your goal </a:t>
            </a:r>
            <a:endParaRPr lang="en-MX" dirty="0"/>
          </a:p>
          <a:p>
            <a:r>
              <a:rPr lang="en-US" dirty="0"/>
              <a:t>Perfect for fitness motivation, classroom activities, or just having fun while staying active!</a:t>
            </a:r>
          </a:p>
          <a:p>
            <a:endParaRPr lang="en-MX" dirty="0"/>
          </a:p>
        </p:txBody>
      </p:sp>
      <p:pic>
        <p:nvPicPr>
          <p:cNvPr id="5" name="Picture Placeholder 4">
            <a:extLst>
              <a:ext uri="{FF2B5EF4-FFF2-40B4-BE49-F238E27FC236}">
                <a16:creationId xmlns:a16="http://schemas.microsoft.com/office/drawing/2014/main" id="{2E2A69C5-321A-9A1A-F1F3-389C1A35189A}"/>
              </a:ext>
            </a:extLst>
          </p:cNvPr>
          <p:cNvPicPr>
            <a:picLocks noGrp="1" noChangeAspect="1"/>
          </p:cNvPicPr>
          <p:nvPr>
            <p:ph type="pic" sz="quarter" idx="13"/>
          </p:nvPr>
        </p:nvPicPr>
        <p:blipFill>
          <a:blip r:embed="rId2"/>
          <a:srcRect t="16077" b="16077"/>
          <a:stretch>
            <a:fillRect/>
          </a:stretch>
        </p:blipFill>
        <p:spPr>
          <a:prstGeom prst="rect">
            <a:avLst/>
          </a:prstGeom>
        </p:spPr>
      </p:pic>
    </p:spTree>
    <p:extLst>
      <p:ext uri="{BB962C8B-B14F-4D97-AF65-F5344CB8AC3E}">
        <p14:creationId xmlns:p14="http://schemas.microsoft.com/office/powerpoint/2010/main" val="434154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C5318-6307-78A8-E8D0-D274656B90A6}"/>
              </a:ext>
            </a:extLst>
          </p:cNvPr>
          <p:cNvSpPr>
            <a:spLocks noGrp="1"/>
          </p:cNvSpPr>
          <p:nvPr>
            <p:ph type="title"/>
          </p:nvPr>
        </p:nvSpPr>
        <p:spPr/>
        <p:txBody>
          <a:bodyPr anchor="b">
            <a:normAutofit/>
          </a:bodyPr>
          <a:lstStyle/>
          <a:p>
            <a:r>
              <a:rPr lang="en-US"/>
              <a:t>Mini Project: Motion Tracker App</a:t>
            </a:r>
          </a:p>
        </p:txBody>
      </p:sp>
    </p:spTree>
    <p:extLst>
      <p:ext uri="{BB962C8B-B14F-4D97-AF65-F5344CB8AC3E}">
        <p14:creationId xmlns:p14="http://schemas.microsoft.com/office/powerpoint/2010/main" val="4084302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F94B5-AFB7-47EA-189C-3562564EFEC3}"/>
              </a:ext>
            </a:extLst>
          </p:cNvPr>
          <p:cNvSpPr>
            <a:spLocks noGrp="1"/>
          </p:cNvSpPr>
          <p:nvPr>
            <p:ph type="title"/>
          </p:nvPr>
        </p:nvSpPr>
        <p:spPr/>
        <p:txBody>
          <a:bodyPr vert="horz" lIns="91440" tIns="45720" rIns="91440" bIns="45720" rtlCol="0" anchor="t">
            <a:normAutofit/>
          </a:bodyPr>
          <a:lstStyle/>
          <a:p>
            <a:r>
              <a:rPr lang="en-US" b="0" kern="1200" spc="-100" baseline="0">
                <a:latin typeface="+mj-lt"/>
                <a:ea typeface="+mj-ea"/>
                <a:cs typeface="+mj-cs"/>
              </a:rPr>
              <a:t>Building the Motion Tracker App</a:t>
            </a:r>
          </a:p>
        </p:txBody>
      </p:sp>
      <p:pic>
        <p:nvPicPr>
          <p:cNvPr id="4" name="Content Placeholder 3" descr="Checking time while working">
            <a:extLst>
              <a:ext uri="{FF2B5EF4-FFF2-40B4-BE49-F238E27FC236}">
                <a16:creationId xmlns:a16="http://schemas.microsoft.com/office/drawing/2014/main" id="{546B5075-2EBC-46AE-A965-EE47DDABD159}"/>
              </a:ext>
            </a:extLst>
          </p:cNvPr>
          <p:cNvPicPr>
            <a:picLocks noGrp="1" noChangeAspect="1"/>
          </p:cNvPicPr>
          <p:nvPr>
            <p:ph type="pic" sz="quarter" idx="13"/>
          </p:nvPr>
        </p:nvPicPr>
        <p:blipFill>
          <a:blip r:embed="rId3"/>
          <a:srcRect l="26730" r="26730"/>
          <a:stretch>
            <a:fillRect/>
          </a:stretch>
        </p:blipFill>
        <p:spPr>
          <a:prstGeom prst="rect">
            <a:avLst/>
          </a:prstGeom>
          <a:noFill/>
        </p:spPr>
      </p:pic>
      <p:sp>
        <p:nvSpPr>
          <p:cNvPr id="5" name="TextBox 4">
            <a:extLst>
              <a:ext uri="{FF2B5EF4-FFF2-40B4-BE49-F238E27FC236}">
                <a16:creationId xmlns:a16="http://schemas.microsoft.com/office/drawing/2014/main" id="{D7D60A77-292B-441C-93B4-EFAAAC0D4F4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dirty="0"/>
              <a:t>Core Motion Integration</a:t>
            </a:r>
          </a:p>
          <a:p>
            <a:pPr marL="0" lvl="1" indent="0">
              <a:spcBef>
                <a:spcPts val="1000"/>
              </a:spcBef>
              <a:spcAft>
                <a:spcPts val="600"/>
              </a:spcAft>
              <a:buFont typeface="Arial" panose="020B0604020202020204" pitchFamily="34" charset="0"/>
              <a:buNone/>
            </a:pPr>
            <a:r>
              <a:rPr lang="en-US" sz="1400" dirty="0"/>
              <a:t>The app uses Core Motion to track user steps and detect sudden movements like shakes and jumps using accelerometer data.</a:t>
            </a:r>
          </a:p>
          <a:p>
            <a:pPr marL="0" indent="0">
              <a:spcBef>
                <a:spcPts val="2500"/>
              </a:spcBef>
              <a:spcAft>
                <a:spcPts val="600"/>
              </a:spcAft>
              <a:buFont typeface="Arial" panose="020B0604020202020204" pitchFamily="34" charset="0"/>
              <a:buNone/>
            </a:pPr>
            <a:r>
              <a:rPr lang="en-US" sz="1400" b="1" dirty="0"/>
              <a:t>User Interface Features</a:t>
            </a:r>
          </a:p>
          <a:p>
            <a:pPr marL="0" lvl="1" indent="0">
              <a:spcBef>
                <a:spcPts val="1000"/>
              </a:spcBef>
              <a:spcAft>
                <a:spcPts val="600"/>
              </a:spcAft>
              <a:buFont typeface="Arial" panose="020B0604020202020204" pitchFamily="34" charset="0"/>
              <a:buNone/>
            </a:pPr>
            <a:r>
              <a:rPr lang="en-US" sz="1400" dirty="0"/>
              <a:t>Includes start/stop tracking button and live display of motion data on the watch screen for user interaction.</a:t>
            </a:r>
          </a:p>
          <a:p>
            <a:pPr marL="0" indent="0">
              <a:spcBef>
                <a:spcPts val="2500"/>
              </a:spcBef>
              <a:spcAft>
                <a:spcPts val="600"/>
              </a:spcAft>
              <a:buFont typeface="Arial" panose="020B0604020202020204" pitchFamily="34" charset="0"/>
              <a:buNone/>
            </a:pPr>
            <a:r>
              <a:rPr lang="en-US" sz="1400" b="1" dirty="0"/>
              <a:t>Session Summary and Metrics</a:t>
            </a:r>
          </a:p>
          <a:p>
            <a:pPr marL="0" lvl="1" indent="0">
              <a:spcBef>
                <a:spcPts val="1000"/>
              </a:spcBef>
              <a:spcAft>
                <a:spcPts val="600"/>
              </a:spcAft>
              <a:buFont typeface="Arial" panose="020B0604020202020204" pitchFamily="34" charset="0"/>
              <a:buNone/>
            </a:pPr>
            <a:r>
              <a:rPr lang="en-US" sz="1400" dirty="0"/>
              <a:t>Displays total steps, maximum acceleration, and session duration on a summary screen for user feedback.</a:t>
            </a:r>
          </a:p>
          <a:p>
            <a:pPr marL="0" indent="0">
              <a:spcBef>
                <a:spcPts val="2500"/>
              </a:spcBef>
              <a:spcAft>
                <a:spcPts val="600"/>
              </a:spcAft>
              <a:buFont typeface="Arial" panose="020B0604020202020204" pitchFamily="34" charset="0"/>
              <a:buNone/>
            </a:pPr>
            <a:r>
              <a:rPr lang="en-US" sz="1400" b="1" dirty="0"/>
              <a:t>Advanced Stretch Goals</a:t>
            </a:r>
          </a:p>
          <a:p>
            <a:pPr marL="0" lvl="1" indent="0">
              <a:spcBef>
                <a:spcPts val="1000"/>
              </a:spcBef>
              <a:spcAft>
                <a:spcPts val="600"/>
              </a:spcAft>
              <a:buFont typeface="Arial" panose="020B0604020202020204" pitchFamily="34" charset="0"/>
              <a:buNone/>
            </a:pPr>
            <a:r>
              <a:rPr lang="en-US" sz="1400" dirty="0"/>
              <a:t>Advanced features include local data storage, haptic feedback on shake detection, and motion intensity graphing.</a:t>
            </a:r>
          </a:p>
        </p:txBody>
      </p:sp>
    </p:spTree>
    <p:extLst>
      <p:ext uri="{BB962C8B-B14F-4D97-AF65-F5344CB8AC3E}">
        <p14:creationId xmlns:p14="http://schemas.microsoft.com/office/powerpoint/2010/main" val="1263107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8969D-AB97-422D-E112-B6E62A31DF9F}"/>
              </a:ext>
            </a:extLst>
          </p:cNvPr>
          <p:cNvSpPr>
            <a:spLocks noGrp="1"/>
          </p:cNvSpPr>
          <p:nvPr>
            <p:ph type="title"/>
          </p:nvPr>
        </p:nvSpPr>
        <p:spPr/>
        <p:txBody>
          <a:bodyPr anchor="b">
            <a:normAutofit/>
          </a:bodyPr>
          <a:lstStyle/>
          <a:p>
            <a:r>
              <a:rPr lang="en-US"/>
              <a:t>Wrap-Up and Homework</a:t>
            </a:r>
          </a:p>
        </p:txBody>
      </p:sp>
    </p:spTree>
    <p:extLst>
      <p:ext uri="{BB962C8B-B14F-4D97-AF65-F5344CB8AC3E}">
        <p14:creationId xmlns:p14="http://schemas.microsoft.com/office/powerpoint/2010/main" val="2175140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BD7DE58-0BE1-4C71-B87C-2A79B7BE4426}">
  <ds:schemaRefs>
    <ds:schemaRef ds:uri="http://schemas.microsoft.com/sharepoint/v3/contenttype/forms"/>
  </ds:schemaRefs>
</ds:datastoreItem>
</file>

<file path=customXml/itemProps2.xml><?xml version="1.0" encoding="utf-8"?>
<ds:datastoreItem xmlns:ds="http://schemas.openxmlformats.org/officeDocument/2006/customXml" ds:itemID="{8C940ACA-6755-480B-98F2-5699A89626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9C16DF-FD5D-45EB-A5D0-4ED61432363F}">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42a02713-284f-41e7-ba44-65bb7c8950cf}" enabled="0" method="" siteId="{42a02713-284f-41e7-ba44-65bb7c8950cf}" removed="1"/>
</clbl:labelList>
</file>

<file path=docProps/app.xml><?xml version="1.0" encoding="utf-8"?>
<Properties xmlns="http://schemas.openxmlformats.org/officeDocument/2006/extended-properties" xmlns:vt="http://schemas.openxmlformats.org/officeDocument/2006/docPropsVTypes">
  <Template/>
  <TotalTime>459</TotalTime>
  <Words>1803</Words>
  <Application>Microsoft Macintosh PowerPoint</Application>
  <PresentationFormat>Widescreen</PresentationFormat>
  <Paragraphs>124</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Neue Haas Grotesk Text Pro</vt:lpstr>
      <vt:lpstr>Dune</vt:lpstr>
      <vt:lpstr>MDI1 113: MOBILE APPLICATIONS FOR WEARABLES - INTERMEDIATE</vt:lpstr>
      <vt:lpstr>Swift Wearables Class: Core Motion</vt:lpstr>
      <vt:lpstr>Core Motion Basics</vt:lpstr>
      <vt:lpstr>Overview of Core Motion and Sensor Types</vt:lpstr>
      <vt:lpstr>Hands-On Setup with CMMotionManager</vt:lpstr>
      <vt:lpstr>Detecting Patterns</vt:lpstr>
      <vt:lpstr>Filtering motion data for stability</vt:lpstr>
      <vt:lpstr>PowerPoint Presentation</vt:lpstr>
      <vt:lpstr>PowerPoint Presentation</vt:lpstr>
      <vt:lpstr>Advanced Motion Handling</vt:lpstr>
      <vt:lpstr>Using CMPedometer and CMDeviceMotion</vt:lpstr>
      <vt:lpstr>PowerPoint Presentation</vt:lpstr>
      <vt:lpstr>Mini Project: Motion Tracker App</vt:lpstr>
      <vt:lpstr>Building the Motion Tracker App</vt:lpstr>
      <vt:lpstr>Wrap-Up and 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Ramses García Duran</cp:lastModifiedBy>
  <cp:revision>4</cp:revision>
  <dcterms:created xsi:type="dcterms:W3CDTF">2025-08-21T23:11:21Z</dcterms:created>
  <dcterms:modified xsi:type="dcterms:W3CDTF">2025-10-23T02:57:39Z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